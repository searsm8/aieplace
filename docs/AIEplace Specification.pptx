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6"/>
  </p:notesMasterIdLst>
  <p:sldIdLst>
    <p:sldId id="263" r:id="rId2"/>
    <p:sldId id="261" r:id="rId3"/>
    <p:sldId id="257" r:id="rId4"/>
    <p:sldId id="271" r:id="rId5"/>
    <p:sldId id="268" r:id="rId6"/>
    <p:sldId id="274" r:id="rId7"/>
    <p:sldId id="269" r:id="rId8"/>
    <p:sldId id="272" r:id="rId9"/>
    <p:sldId id="267" r:id="rId10"/>
    <p:sldId id="258" r:id="rId11"/>
    <p:sldId id="264" r:id="rId12"/>
    <p:sldId id="275" r:id="rId13"/>
    <p:sldId id="25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8B51FD-6200-4718-BA08-7575184E231C}">
          <p14:sldIdLst/>
        </p14:section>
        <p14:section name="Untitled Section" id="{2ACBE86D-E69C-4389-B1E8-73269BE9D171}">
          <p14:sldIdLst>
            <p14:sldId id="263"/>
            <p14:sldId id="261"/>
          </p14:sldIdLst>
        </p14:section>
        <p14:section name="Untitled Section" id="{9F3648FA-71D6-476E-84CB-9941B8A171F7}">
          <p14:sldIdLst>
            <p14:sldId id="257"/>
          </p14:sldIdLst>
        </p14:section>
        <p14:section name="Untitled Section" id="{8AA4C7B2-19FC-43F9-8EE5-85DBF2614DF3}">
          <p14:sldIdLst>
            <p14:sldId id="271"/>
            <p14:sldId id="268"/>
            <p14:sldId id="274"/>
            <p14:sldId id="269"/>
            <p14:sldId id="272"/>
            <p14:sldId id="267"/>
            <p14:sldId id="258"/>
            <p14:sldId id="264"/>
            <p14:sldId id="275"/>
            <p14:sldId id="259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E504A-5D6D-4683-A94F-3123DF93EC0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9EF37-A587-4450-AB7B-A47CA3490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9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ce3ac64ce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26ce3ac64ce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0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51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0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5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5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8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4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3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78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496667"/>
            <a:ext cx="113608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958433"/>
            <a:ext cx="11360800" cy="4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511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7D4A3D2-FCF6-4AF1-A497-A3D503920C8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4E5F822-25CB-43AD-875A-68160200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3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4DE0D-56FD-0B87-848B-17806A4A6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643468"/>
            <a:ext cx="9966960" cy="3592432"/>
          </a:xfrm>
        </p:spPr>
        <p:txBody>
          <a:bodyPr>
            <a:normAutofit/>
          </a:bodyPr>
          <a:lstStyle/>
          <a:p>
            <a:r>
              <a:rPr lang="en-US"/>
              <a:t>AIEplace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5710B-9F14-7E8E-B861-DF03B8044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913336"/>
            <a:ext cx="7891272" cy="106984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</a:rPr>
              <a:t>Application Specification</a:t>
            </a:r>
            <a:endParaRPr lang="en-US" sz="4000" dirty="0">
              <a:solidFill>
                <a:srgbClr val="00000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384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7217975" y="1148246"/>
            <a:ext cx="2000000" cy="554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161373" y="317575"/>
            <a:ext cx="9409534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4800" dirty="0"/>
              <a:t>AIEplace Application Overview</a:t>
            </a:r>
            <a:endParaRPr sz="4800" dirty="0"/>
          </a:p>
        </p:txBody>
      </p:sp>
      <p:sp>
        <p:nvSpPr>
          <p:cNvPr id="70" name="Google Shape;70;p14"/>
          <p:cNvSpPr/>
          <p:nvPr/>
        </p:nvSpPr>
        <p:spPr>
          <a:xfrm>
            <a:off x="147533" y="1236000"/>
            <a:ext cx="3866800" cy="554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1" name="Google Shape;71;p14"/>
          <p:cNvSpPr txBox="1"/>
          <p:nvPr/>
        </p:nvSpPr>
        <p:spPr>
          <a:xfrm>
            <a:off x="906367" y="1165834"/>
            <a:ext cx="2557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solidFill>
                  <a:schemeClr val="dk2"/>
                </a:solidFill>
              </a:rPr>
              <a:t>Host Code (x86)</a:t>
            </a:r>
            <a:endParaRPr sz="2400" dirty="0">
              <a:solidFill>
                <a:schemeClr val="dk2"/>
              </a:solidFill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4866140" y="1127443"/>
            <a:ext cx="1680027" cy="5506257"/>
            <a:chOff x="5606150" y="815357"/>
            <a:chExt cx="1053000" cy="4129693"/>
          </a:xfrm>
        </p:grpSpPr>
        <p:sp>
          <p:nvSpPr>
            <p:cNvPr id="73" name="Google Shape;73;p14"/>
            <p:cNvSpPr/>
            <p:nvPr/>
          </p:nvSpPr>
          <p:spPr>
            <a:xfrm>
              <a:off x="5606150" y="850950"/>
              <a:ext cx="1053000" cy="40941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5951106" y="815357"/>
              <a:ext cx="681600" cy="46163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2400" dirty="0">
                  <a:solidFill>
                    <a:schemeClr val="dk2"/>
                  </a:solidFill>
                </a:rPr>
                <a:t>PL</a:t>
              </a:r>
              <a:endParaRPr sz="2400" dirty="0">
                <a:solidFill>
                  <a:schemeClr val="dk2"/>
                </a:solidFill>
              </a:endParaRPr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7771433" y="1104445"/>
            <a:ext cx="101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solidFill>
                  <a:schemeClr val="dk2"/>
                </a:solidFill>
              </a:rPr>
              <a:t>AIEs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250166" y="1781417"/>
            <a:ext cx="3632460" cy="615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 dirty="0"/>
              <a:t>Read LEF, DEF, into DataBase</a:t>
            </a:r>
            <a:endParaRPr sz="2000" dirty="0"/>
          </a:p>
        </p:txBody>
      </p:sp>
      <p:sp>
        <p:nvSpPr>
          <p:cNvPr id="77" name="Google Shape;77;p14"/>
          <p:cNvSpPr/>
          <p:nvPr/>
        </p:nvSpPr>
        <p:spPr>
          <a:xfrm>
            <a:off x="398317" y="2631433"/>
            <a:ext cx="3310000" cy="615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 dirty="0"/>
              <a:t>Initialize placement</a:t>
            </a:r>
            <a:endParaRPr sz="2000" dirty="0"/>
          </a:p>
        </p:txBody>
      </p:sp>
      <p:sp>
        <p:nvSpPr>
          <p:cNvPr id="78" name="Google Shape;78;p14"/>
          <p:cNvSpPr/>
          <p:nvPr/>
        </p:nvSpPr>
        <p:spPr>
          <a:xfrm>
            <a:off x="736917" y="3455117"/>
            <a:ext cx="2632800" cy="23572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 dirty="0"/>
              <a:t>Placement Iteration</a:t>
            </a:r>
            <a:endParaRPr sz="2000" dirty="0"/>
          </a:p>
          <a:p>
            <a:pPr algn="ctr"/>
            <a:r>
              <a:rPr lang="en" sz="2000" dirty="0"/>
              <a:t>(repeat to convergence)</a:t>
            </a:r>
            <a:endParaRPr sz="2000" dirty="0"/>
          </a:p>
        </p:txBody>
      </p:sp>
      <p:sp>
        <p:nvSpPr>
          <p:cNvPr id="79" name="Google Shape;79;p14"/>
          <p:cNvSpPr/>
          <p:nvPr/>
        </p:nvSpPr>
        <p:spPr>
          <a:xfrm>
            <a:off x="1863508" y="6058601"/>
            <a:ext cx="1680000" cy="438800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/>
              <a:t>Write output</a:t>
            </a:r>
            <a:endParaRPr dirty="0"/>
          </a:p>
        </p:txBody>
      </p:sp>
      <p:cxnSp>
        <p:nvCxnSpPr>
          <p:cNvPr id="80" name="Google Shape;80;p14"/>
          <p:cNvCxnSpPr/>
          <p:nvPr/>
        </p:nvCxnSpPr>
        <p:spPr>
          <a:xfrm>
            <a:off x="3246900" y="5142733"/>
            <a:ext cx="1946400" cy="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4"/>
          <p:cNvSpPr txBox="1"/>
          <p:nvPr/>
        </p:nvSpPr>
        <p:spPr>
          <a:xfrm>
            <a:off x="4012662" y="3814010"/>
            <a:ext cx="1010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800" dirty="0">
                <a:solidFill>
                  <a:schemeClr val="dk2"/>
                </a:solidFill>
              </a:rPr>
              <a:t>Send node positions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992655" y="4788768"/>
            <a:ext cx="88284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800" dirty="0">
                <a:solidFill>
                  <a:schemeClr val="dk2"/>
                </a:solidFill>
              </a:rPr>
              <a:t>Send density data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743233" y="115800"/>
            <a:ext cx="610400" cy="2200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84" name="Google Shape;84;p14"/>
          <p:cNvSpPr/>
          <p:nvPr/>
        </p:nvSpPr>
        <p:spPr>
          <a:xfrm>
            <a:off x="7743233" y="489200"/>
            <a:ext cx="610400" cy="220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85" name="Google Shape;85;p14"/>
          <p:cNvSpPr/>
          <p:nvPr/>
        </p:nvSpPr>
        <p:spPr>
          <a:xfrm>
            <a:off x="7743233" y="862600"/>
            <a:ext cx="610400" cy="2200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86" name="Google Shape;86;p14"/>
          <p:cNvSpPr txBox="1"/>
          <p:nvPr/>
        </p:nvSpPr>
        <p:spPr>
          <a:xfrm>
            <a:off x="8514900" y="0"/>
            <a:ext cx="29724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dirty="0">
                <a:solidFill>
                  <a:schemeClr val="dk2"/>
                </a:solidFill>
              </a:rPr>
              <a:t>Exists and functions.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8514900" y="395460"/>
            <a:ext cx="3058125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dirty="0">
                <a:solidFill>
                  <a:schemeClr val="dk2"/>
                </a:solidFill>
              </a:rPr>
              <a:t>Partially exists, work-in-progress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8514900" y="746800"/>
            <a:ext cx="29724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dirty="0">
                <a:solidFill>
                  <a:schemeClr val="dk2"/>
                </a:solidFill>
              </a:rPr>
              <a:t>Planned, but does not exist yet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284633" y="2783851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MM2S</a:t>
            </a:r>
            <a:endParaRPr sz="1067" dirty="0"/>
          </a:p>
        </p:txBody>
      </p:sp>
      <p:sp>
        <p:nvSpPr>
          <p:cNvPr id="90" name="Google Shape;90;p14"/>
          <p:cNvSpPr/>
          <p:nvPr/>
        </p:nvSpPr>
        <p:spPr>
          <a:xfrm>
            <a:off x="5181567" y="4880567"/>
            <a:ext cx="901600" cy="4156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Density</a:t>
            </a:r>
            <a:endParaRPr sz="1067" dirty="0"/>
          </a:p>
          <a:p>
            <a:pPr algn="ctr"/>
            <a:r>
              <a:rPr lang="en" sz="1067" dirty="0"/>
              <a:t>MM2S</a:t>
            </a:r>
            <a:endParaRPr sz="1067" dirty="0"/>
          </a:p>
        </p:txBody>
      </p:sp>
      <p:sp>
        <p:nvSpPr>
          <p:cNvPr id="91" name="Google Shape;91;p14"/>
          <p:cNvSpPr/>
          <p:nvPr/>
        </p:nvSpPr>
        <p:spPr>
          <a:xfrm>
            <a:off x="7797433" y="1582184"/>
            <a:ext cx="802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 compute graph</a:t>
            </a:r>
            <a:endParaRPr sz="1067" dirty="0"/>
          </a:p>
        </p:txBody>
      </p:sp>
      <p:sp>
        <p:nvSpPr>
          <p:cNvPr id="92" name="Google Shape;92;p14"/>
          <p:cNvSpPr/>
          <p:nvPr/>
        </p:nvSpPr>
        <p:spPr>
          <a:xfrm>
            <a:off x="7797433" y="2210717"/>
            <a:ext cx="802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 compute graph</a:t>
            </a:r>
            <a:endParaRPr sz="1067" dirty="0"/>
          </a:p>
        </p:txBody>
      </p:sp>
      <p:sp>
        <p:nvSpPr>
          <p:cNvPr id="93" name="Google Shape;93;p14"/>
          <p:cNvSpPr/>
          <p:nvPr/>
        </p:nvSpPr>
        <p:spPr>
          <a:xfrm>
            <a:off x="7771533" y="2852367"/>
            <a:ext cx="802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 compute graph</a:t>
            </a:r>
            <a:endParaRPr sz="1067" dirty="0"/>
          </a:p>
        </p:txBody>
      </p:sp>
      <p:cxnSp>
        <p:nvCxnSpPr>
          <p:cNvPr id="94" name="Google Shape;94;p14"/>
          <p:cNvCxnSpPr>
            <a:cxnSpLocks/>
            <a:stCxn id="76" idx="2"/>
            <a:endCxn id="77" idx="0"/>
          </p:cNvCxnSpPr>
          <p:nvPr/>
        </p:nvCxnSpPr>
        <p:spPr>
          <a:xfrm flipH="1">
            <a:off x="2053317" y="2397017"/>
            <a:ext cx="13079" cy="2344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4"/>
          <p:cNvCxnSpPr>
            <a:stCxn id="77" idx="2"/>
            <a:endCxn id="78" idx="0"/>
          </p:cNvCxnSpPr>
          <p:nvPr/>
        </p:nvCxnSpPr>
        <p:spPr>
          <a:xfrm>
            <a:off x="2053317" y="3247033"/>
            <a:ext cx="0" cy="20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4"/>
          <p:cNvCxnSpPr>
            <a:cxnSpLocks/>
            <a:endCxn id="79" idx="0"/>
          </p:cNvCxnSpPr>
          <p:nvPr/>
        </p:nvCxnSpPr>
        <p:spPr>
          <a:xfrm>
            <a:off x="2556867" y="5724200"/>
            <a:ext cx="146641" cy="3344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4"/>
          <p:cNvSpPr txBox="1"/>
          <p:nvPr/>
        </p:nvSpPr>
        <p:spPr>
          <a:xfrm>
            <a:off x="3882626" y="4304803"/>
            <a:ext cx="1100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800" dirty="0">
                <a:solidFill>
                  <a:schemeClr val="dk2"/>
                </a:solidFill>
              </a:rPr>
              <a:t>Receive partials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973895" y="5786490"/>
            <a:ext cx="901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800" dirty="0">
                <a:solidFill>
                  <a:schemeClr val="dk2"/>
                </a:solidFill>
              </a:rPr>
              <a:t>Receive computed </a:t>
            </a:r>
          </a:p>
          <a:p>
            <a:pPr algn="ctr"/>
            <a:r>
              <a:rPr lang="en" sz="800" dirty="0">
                <a:solidFill>
                  <a:schemeClr val="dk2"/>
                </a:solidFill>
              </a:rPr>
              <a:t>E-field</a:t>
            </a:r>
            <a:endParaRPr sz="800" dirty="0">
              <a:solidFill>
                <a:schemeClr val="dk2"/>
              </a:solidFill>
            </a:endParaRPr>
          </a:p>
        </p:txBody>
      </p:sp>
      <p:cxnSp>
        <p:nvCxnSpPr>
          <p:cNvPr id="99" name="Google Shape;99;p14"/>
          <p:cNvCxnSpPr>
            <a:stCxn id="100" idx="1"/>
          </p:cNvCxnSpPr>
          <p:nvPr/>
        </p:nvCxnSpPr>
        <p:spPr>
          <a:xfrm rot="10800000">
            <a:off x="3016767" y="5319500"/>
            <a:ext cx="2164800" cy="1043200"/>
          </a:xfrm>
          <a:prstGeom prst="bentConnector3">
            <a:avLst>
              <a:gd name="adj1" fmla="val 6034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14"/>
          <p:cNvCxnSpPr>
            <a:stCxn id="102" idx="3"/>
            <a:endCxn id="92" idx="1"/>
          </p:cNvCxnSpPr>
          <p:nvPr/>
        </p:nvCxnSpPr>
        <p:spPr>
          <a:xfrm rot="10800000" flipH="1">
            <a:off x="5998633" y="2484000"/>
            <a:ext cx="1798800" cy="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4"/>
          <p:cNvCxnSpPr>
            <a:stCxn id="89" idx="3"/>
            <a:endCxn id="93" idx="1"/>
          </p:cNvCxnSpPr>
          <p:nvPr/>
        </p:nvCxnSpPr>
        <p:spPr>
          <a:xfrm>
            <a:off x="5998633" y="2970651"/>
            <a:ext cx="1772800" cy="15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4"/>
          <p:cNvCxnSpPr>
            <a:stCxn id="105" idx="3"/>
            <a:endCxn id="91" idx="1"/>
          </p:cNvCxnSpPr>
          <p:nvPr/>
        </p:nvCxnSpPr>
        <p:spPr>
          <a:xfrm rot="10800000" flipH="1">
            <a:off x="5998633" y="1855400"/>
            <a:ext cx="1798800" cy="7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4"/>
          <p:cNvSpPr/>
          <p:nvPr/>
        </p:nvSpPr>
        <p:spPr>
          <a:xfrm>
            <a:off x="7553533" y="4663392"/>
            <a:ext cx="1238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1D-DCT compute graph</a:t>
            </a:r>
            <a:endParaRPr sz="1067" dirty="0"/>
          </a:p>
        </p:txBody>
      </p:sp>
      <p:sp>
        <p:nvSpPr>
          <p:cNvPr id="107" name="Google Shape;107;p14"/>
          <p:cNvSpPr/>
          <p:nvPr/>
        </p:nvSpPr>
        <p:spPr>
          <a:xfrm>
            <a:off x="7553533" y="5340484"/>
            <a:ext cx="1238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/>
              <a:t>1D-IDCT compute graph</a:t>
            </a:r>
            <a:endParaRPr sz="1067"/>
          </a:p>
        </p:txBody>
      </p:sp>
      <p:sp>
        <p:nvSpPr>
          <p:cNvPr id="108" name="Google Shape;108;p14"/>
          <p:cNvSpPr/>
          <p:nvPr/>
        </p:nvSpPr>
        <p:spPr>
          <a:xfrm>
            <a:off x="5114633" y="5416400"/>
            <a:ext cx="1049200" cy="6156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Transpose</a:t>
            </a:r>
            <a:endParaRPr sz="1067" dirty="0"/>
          </a:p>
        </p:txBody>
      </p:sp>
      <p:cxnSp>
        <p:nvCxnSpPr>
          <p:cNvPr id="109" name="Google Shape;109;p14"/>
          <p:cNvCxnSpPr>
            <a:stCxn id="90" idx="3"/>
            <a:endCxn id="106" idx="1"/>
          </p:cNvCxnSpPr>
          <p:nvPr/>
        </p:nvCxnSpPr>
        <p:spPr>
          <a:xfrm flipV="1">
            <a:off x="6083167" y="4936792"/>
            <a:ext cx="1470366" cy="1515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4"/>
          <p:cNvCxnSpPr/>
          <p:nvPr/>
        </p:nvCxnSpPr>
        <p:spPr>
          <a:xfrm flipH="1">
            <a:off x="6160233" y="5050500"/>
            <a:ext cx="1389200" cy="37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4"/>
          <p:cNvCxnSpPr/>
          <p:nvPr/>
        </p:nvCxnSpPr>
        <p:spPr>
          <a:xfrm rot="10800000" flipH="1">
            <a:off x="6165367" y="5130033"/>
            <a:ext cx="1391600" cy="3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4"/>
          <p:cNvCxnSpPr>
            <a:cxnSpLocks/>
            <a:endCxn id="107" idx="3"/>
          </p:cNvCxnSpPr>
          <p:nvPr/>
        </p:nvCxnSpPr>
        <p:spPr>
          <a:xfrm flipH="1">
            <a:off x="8791533" y="5613884"/>
            <a:ext cx="2305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4"/>
          <p:cNvCxnSpPr>
            <a:stCxn id="107" idx="1"/>
          </p:cNvCxnSpPr>
          <p:nvPr/>
        </p:nvCxnSpPr>
        <p:spPr>
          <a:xfrm flipH="1">
            <a:off x="6171133" y="5613884"/>
            <a:ext cx="1382400" cy="1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4"/>
          <p:cNvCxnSpPr/>
          <p:nvPr/>
        </p:nvCxnSpPr>
        <p:spPr>
          <a:xfrm>
            <a:off x="6171000" y="5648233"/>
            <a:ext cx="1372400" cy="3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4"/>
          <p:cNvCxnSpPr>
            <a:endCxn id="100" idx="3"/>
          </p:cNvCxnSpPr>
          <p:nvPr/>
        </p:nvCxnSpPr>
        <p:spPr>
          <a:xfrm flipH="1">
            <a:off x="6083167" y="6352300"/>
            <a:ext cx="1464400" cy="1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4"/>
          <p:cNvCxnSpPr/>
          <p:nvPr/>
        </p:nvCxnSpPr>
        <p:spPr>
          <a:xfrm rot="10800000" flipH="1">
            <a:off x="6168167" y="5758533"/>
            <a:ext cx="1404000" cy="10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105" name="Google Shape;105;p14"/>
          <p:cNvSpPr/>
          <p:nvPr/>
        </p:nvSpPr>
        <p:spPr>
          <a:xfrm>
            <a:off x="5284633" y="1743400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MM2S</a:t>
            </a:r>
            <a:endParaRPr sz="1067" dirty="0"/>
          </a:p>
        </p:txBody>
      </p:sp>
      <p:sp>
        <p:nvSpPr>
          <p:cNvPr id="102" name="Google Shape;102;p14"/>
          <p:cNvSpPr/>
          <p:nvPr/>
        </p:nvSpPr>
        <p:spPr>
          <a:xfrm>
            <a:off x="5284633" y="2311600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MM2S</a:t>
            </a:r>
            <a:endParaRPr sz="1067" dirty="0"/>
          </a:p>
        </p:txBody>
      </p:sp>
      <p:cxnSp>
        <p:nvCxnSpPr>
          <p:cNvPr id="117" name="Google Shape;117;p14"/>
          <p:cNvCxnSpPr>
            <a:cxnSpLocks/>
            <a:endCxn id="89" idx="1"/>
          </p:cNvCxnSpPr>
          <p:nvPr/>
        </p:nvCxnSpPr>
        <p:spPr>
          <a:xfrm rot="10800000" flipH="1">
            <a:off x="3303833" y="2970651"/>
            <a:ext cx="1980800" cy="1280000"/>
          </a:xfrm>
          <a:prstGeom prst="bentConnector3">
            <a:avLst>
              <a:gd name="adj1" fmla="val 741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4"/>
          <p:cNvCxnSpPr>
            <a:cxnSpLocks/>
            <a:endCxn id="102" idx="1"/>
          </p:cNvCxnSpPr>
          <p:nvPr/>
        </p:nvCxnSpPr>
        <p:spPr>
          <a:xfrm rot="5400000" flipH="1" flipV="1">
            <a:off x="4537803" y="2732488"/>
            <a:ext cx="980917" cy="51274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4"/>
          <p:cNvCxnSpPr>
            <a:cxnSpLocks/>
            <a:endCxn id="105" idx="1"/>
          </p:cNvCxnSpPr>
          <p:nvPr/>
        </p:nvCxnSpPr>
        <p:spPr>
          <a:xfrm rot="5400000" flipH="1" flipV="1">
            <a:off x="4736935" y="1965155"/>
            <a:ext cx="582652" cy="51274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120;p14"/>
          <p:cNvSpPr/>
          <p:nvPr/>
        </p:nvSpPr>
        <p:spPr>
          <a:xfrm>
            <a:off x="5284633" y="4403800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S2MM</a:t>
            </a:r>
            <a:endParaRPr sz="1067" dirty="0"/>
          </a:p>
        </p:txBody>
      </p:sp>
      <p:sp>
        <p:nvSpPr>
          <p:cNvPr id="121" name="Google Shape;121;p14"/>
          <p:cNvSpPr/>
          <p:nvPr/>
        </p:nvSpPr>
        <p:spPr>
          <a:xfrm>
            <a:off x="5284633" y="3968067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S2MM</a:t>
            </a:r>
            <a:endParaRPr sz="1067" dirty="0"/>
          </a:p>
        </p:txBody>
      </p:sp>
      <p:sp>
        <p:nvSpPr>
          <p:cNvPr id="122" name="Google Shape;122;p14"/>
          <p:cNvSpPr/>
          <p:nvPr/>
        </p:nvSpPr>
        <p:spPr>
          <a:xfrm>
            <a:off x="5284633" y="3523433"/>
            <a:ext cx="714000" cy="373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 dirty="0"/>
              <a:t>Partials</a:t>
            </a:r>
            <a:endParaRPr sz="1067" dirty="0"/>
          </a:p>
          <a:p>
            <a:pPr algn="ctr"/>
            <a:r>
              <a:rPr lang="en" sz="1067" dirty="0"/>
              <a:t>S2MM</a:t>
            </a:r>
            <a:endParaRPr sz="1067" dirty="0"/>
          </a:p>
        </p:txBody>
      </p:sp>
      <p:cxnSp>
        <p:nvCxnSpPr>
          <p:cNvPr id="123" name="Google Shape;123;p14"/>
          <p:cNvCxnSpPr>
            <a:stCxn id="120" idx="1"/>
          </p:cNvCxnSpPr>
          <p:nvPr/>
        </p:nvCxnSpPr>
        <p:spPr>
          <a:xfrm flipH="1">
            <a:off x="3375433" y="4590600"/>
            <a:ext cx="1909200" cy="1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4"/>
          <p:cNvCxnSpPr>
            <a:cxnSpLocks/>
            <a:stCxn id="121" idx="1"/>
          </p:cNvCxnSpPr>
          <p:nvPr/>
        </p:nvCxnSpPr>
        <p:spPr>
          <a:xfrm rot="10800000" flipV="1">
            <a:off x="5155117" y="4154866"/>
            <a:ext cx="129517" cy="44813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4"/>
          <p:cNvCxnSpPr>
            <a:cxnSpLocks/>
            <a:stCxn id="122" idx="1"/>
          </p:cNvCxnSpPr>
          <p:nvPr/>
        </p:nvCxnSpPr>
        <p:spPr>
          <a:xfrm rot="10800000" flipV="1">
            <a:off x="5155117" y="3710233"/>
            <a:ext cx="129517" cy="45031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4"/>
          <p:cNvCxnSpPr>
            <a:stCxn id="91" idx="3"/>
            <a:endCxn id="122" idx="3"/>
          </p:cNvCxnSpPr>
          <p:nvPr/>
        </p:nvCxnSpPr>
        <p:spPr>
          <a:xfrm flipH="1">
            <a:off x="5998633" y="1855584"/>
            <a:ext cx="2600800" cy="1854800"/>
          </a:xfrm>
          <a:prstGeom prst="bentConnector3">
            <a:avLst>
              <a:gd name="adj1" fmla="val -643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7" name="Google Shape;127;p14"/>
          <p:cNvCxnSpPr>
            <a:stCxn id="92" idx="3"/>
            <a:endCxn id="121" idx="3"/>
          </p:cNvCxnSpPr>
          <p:nvPr/>
        </p:nvCxnSpPr>
        <p:spPr>
          <a:xfrm flipH="1">
            <a:off x="5998633" y="2484117"/>
            <a:ext cx="2600800" cy="1670800"/>
          </a:xfrm>
          <a:prstGeom prst="bentConnector3">
            <a:avLst>
              <a:gd name="adj1" fmla="val -122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8" name="Google Shape;128;p14"/>
          <p:cNvCxnSpPr>
            <a:stCxn id="93" idx="3"/>
            <a:endCxn id="120" idx="3"/>
          </p:cNvCxnSpPr>
          <p:nvPr/>
        </p:nvCxnSpPr>
        <p:spPr>
          <a:xfrm flipH="1">
            <a:off x="5998733" y="3125767"/>
            <a:ext cx="2574800" cy="1464800"/>
          </a:xfrm>
          <a:prstGeom prst="bentConnector3">
            <a:avLst>
              <a:gd name="adj1" fmla="val -1807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9" name="Google Shape;129;p14"/>
          <p:cNvCxnSpPr>
            <a:stCxn id="106" idx="3"/>
            <a:endCxn id="130" idx="3"/>
          </p:cNvCxnSpPr>
          <p:nvPr/>
        </p:nvCxnSpPr>
        <p:spPr>
          <a:xfrm>
            <a:off x="8791533" y="4936792"/>
            <a:ext cx="12700" cy="1322692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" name="Google Shape;130;p14"/>
          <p:cNvSpPr/>
          <p:nvPr/>
        </p:nvSpPr>
        <p:spPr>
          <a:xfrm>
            <a:off x="7553533" y="5986084"/>
            <a:ext cx="1238000" cy="546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/>
              <a:t>1D-IDXST compute graph</a:t>
            </a:r>
            <a:endParaRPr sz="1067"/>
          </a:p>
        </p:txBody>
      </p:sp>
      <p:cxnSp>
        <p:nvCxnSpPr>
          <p:cNvPr id="131" name="Google Shape;131;p14"/>
          <p:cNvCxnSpPr/>
          <p:nvPr/>
        </p:nvCxnSpPr>
        <p:spPr>
          <a:xfrm rot="10800000">
            <a:off x="6175233" y="5872617"/>
            <a:ext cx="1367200" cy="23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100" name="Google Shape;100;p14"/>
          <p:cNvSpPr/>
          <p:nvPr/>
        </p:nvSpPr>
        <p:spPr>
          <a:xfrm>
            <a:off x="5181567" y="6178100"/>
            <a:ext cx="901600" cy="3692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/>
              <a:t>Density</a:t>
            </a:r>
            <a:endParaRPr sz="1067"/>
          </a:p>
          <a:p>
            <a:pPr algn="ctr"/>
            <a:r>
              <a:rPr lang="en" sz="1067"/>
              <a:t>S2MM</a:t>
            </a:r>
            <a:endParaRPr sz="1067"/>
          </a:p>
        </p:txBody>
      </p:sp>
      <p:sp>
        <p:nvSpPr>
          <p:cNvPr id="132" name="Google Shape;132;p14"/>
          <p:cNvSpPr txBox="1"/>
          <p:nvPr/>
        </p:nvSpPr>
        <p:spPr>
          <a:xfrm>
            <a:off x="8717196" y="4577541"/>
            <a:ext cx="7140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en" sz="1333" baseline="-250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u,v</a:t>
            </a:r>
            <a:endParaRPr sz="1333" baseline="-25000" dirty="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3" name="Google Shape;133;p14"/>
          <p:cNvCxnSpPr/>
          <p:nvPr/>
        </p:nvCxnSpPr>
        <p:spPr>
          <a:xfrm flipH="1">
            <a:off x="6078567" y="5881633"/>
            <a:ext cx="1479600" cy="34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7759ADE-ED68-5EC2-BEE0-052FDB49CC60}"/>
              </a:ext>
            </a:extLst>
          </p:cNvPr>
          <p:cNvSpPr txBox="1"/>
          <p:nvPr/>
        </p:nvSpPr>
        <p:spPr>
          <a:xfrm>
            <a:off x="9454833" y="2030663"/>
            <a:ext cx="27981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Key:</a:t>
            </a:r>
          </a:p>
          <a:p>
            <a:r>
              <a:rPr lang="en-US" sz="1200" b="1" dirty="0"/>
              <a:t>MM2S</a:t>
            </a:r>
            <a:r>
              <a:rPr lang="en-US" sz="1200" dirty="0"/>
              <a:t> = Memory Map to Stream</a:t>
            </a:r>
          </a:p>
          <a:p>
            <a:r>
              <a:rPr lang="en-US" sz="1200" dirty="0"/>
              <a:t>(used for sending data to AIEs)</a:t>
            </a:r>
          </a:p>
          <a:p>
            <a:endParaRPr lang="en-US" sz="1200" dirty="0"/>
          </a:p>
          <a:p>
            <a:r>
              <a:rPr lang="en-US" sz="1200" b="1" dirty="0"/>
              <a:t>S2MM</a:t>
            </a:r>
            <a:r>
              <a:rPr lang="en-US" sz="1200" dirty="0"/>
              <a:t> = Stream to Memory Map</a:t>
            </a:r>
          </a:p>
          <a:p>
            <a:r>
              <a:rPr lang="en-US" sz="1200" dirty="0"/>
              <a:t>(used for receiving output from AIEs)</a:t>
            </a:r>
          </a:p>
        </p:txBody>
      </p:sp>
      <p:sp>
        <p:nvSpPr>
          <p:cNvPr id="3" name="Google Shape;79;p14">
            <a:extLst>
              <a:ext uri="{FF2B5EF4-FFF2-40B4-BE49-F238E27FC236}">
                <a16:creationId xmlns:a16="http://schemas.microsoft.com/office/drawing/2014/main" id="{27EB77E6-7B33-3D15-7223-B8049EBF3CA9}"/>
              </a:ext>
            </a:extLst>
          </p:cNvPr>
          <p:cNvSpPr/>
          <p:nvPr/>
        </p:nvSpPr>
        <p:spPr>
          <a:xfrm>
            <a:off x="315479" y="6031833"/>
            <a:ext cx="1333468" cy="438800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dirty="0"/>
              <a:t>Generate</a:t>
            </a:r>
          </a:p>
          <a:p>
            <a:pPr algn="ctr"/>
            <a:r>
              <a:rPr lang="en" sz="1400" dirty="0"/>
              <a:t>Visualization</a:t>
            </a:r>
            <a:endParaRPr sz="1400" dirty="0"/>
          </a:p>
        </p:txBody>
      </p:sp>
      <p:cxnSp>
        <p:nvCxnSpPr>
          <p:cNvPr id="6" name="Google Shape;96;p14">
            <a:extLst>
              <a:ext uri="{FF2B5EF4-FFF2-40B4-BE49-F238E27FC236}">
                <a16:creationId xmlns:a16="http://schemas.microsoft.com/office/drawing/2014/main" id="{D0456B47-A8D0-3730-63BC-5C0A61386565}"/>
              </a:ext>
            </a:extLst>
          </p:cNvPr>
          <p:cNvCxnSpPr>
            <a:cxnSpLocks/>
          </p:cNvCxnSpPr>
          <p:nvPr/>
        </p:nvCxnSpPr>
        <p:spPr>
          <a:xfrm flipH="1">
            <a:off x="1122707" y="5613884"/>
            <a:ext cx="220915" cy="4065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14">
            <a:extLst>
              <a:ext uri="{FF2B5EF4-FFF2-40B4-BE49-F238E27FC236}">
                <a16:creationId xmlns:a16="http://schemas.microsoft.com/office/drawing/2014/main" id="{87486708-0660-EA40-E27A-064A63BF6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473" y="326165"/>
            <a:ext cx="9409534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sz="4800" dirty="0"/>
              <a:t>Partials graph -- Dataflow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85EDCA-01F7-F20F-A665-A6874BAA23CF}"/>
              </a:ext>
            </a:extLst>
          </p:cNvPr>
          <p:cNvGrpSpPr/>
          <p:nvPr/>
        </p:nvGrpSpPr>
        <p:grpSpPr>
          <a:xfrm>
            <a:off x="2298425" y="2409810"/>
            <a:ext cx="6834248" cy="2086906"/>
            <a:chOff x="731421" y="1004939"/>
            <a:chExt cx="6834248" cy="20869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5F58BB-790C-F50F-7E7E-C31FA0807E85}"/>
                </a:ext>
              </a:extLst>
            </p:cNvPr>
            <p:cNvSpPr/>
            <p:nvPr/>
          </p:nvSpPr>
          <p:spPr>
            <a:xfrm>
              <a:off x="2759541" y="1004939"/>
              <a:ext cx="4243018" cy="198781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EE9182-B29D-9EE5-0648-E439539B1258}"/>
                </a:ext>
              </a:extLst>
            </p:cNvPr>
            <p:cNvGrpSpPr/>
            <p:nvPr/>
          </p:nvGrpSpPr>
          <p:grpSpPr>
            <a:xfrm>
              <a:off x="731421" y="1265586"/>
              <a:ext cx="6086449" cy="1396760"/>
              <a:chOff x="2766000" y="2070245"/>
              <a:chExt cx="6086449" cy="1396760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AC1E107-D022-6F7E-C014-D98114C9A799}"/>
                  </a:ext>
                </a:extLst>
              </p:cNvPr>
              <p:cNvSpPr txBox="1"/>
              <p:nvPr/>
            </p:nvSpPr>
            <p:spPr>
              <a:xfrm>
                <a:off x="3938745" y="2339459"/>
                <a:ext cx="938037" cy="974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baseline="30000" dirty="0"/>
                  <a:t>x</a:t>
                </a:r>
                <a:r>
                  <a:rPr lang="en-US" sz="2000" baseline="30000" dirty="0"/>
                  <a:t> stream</a:t>
                </a:r>
                <a:endParaRPr lang="en-US" sz="2000" baseline="30000" dirty="0">
                  <a:solidFill>
                    <a:schemeClr val="tx1"/>
                  </a:solidFill>
                </a:endParaRPr>
              </a:p>
              <a:p>
                <a:endParaRPr lang="en-US" sz="1200" dirty="0"/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12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1CF2DA-E232-84E8-2A73-3AE8CB991E1F}"/>
                  </a:ext>
                </a:extLst>
              </p:cNvPr>
              <p:cNvSpPr txBox="1"/>
              <p:nvPr/>
            </p:nvSpPr>
            <p:spPr>
              <a:xfrm>
                <a:off x="2802571" y="2420125"/>
                <a:ext cx="12784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All coordinates on net </a:t>
                </a:r>
                <a:r>
                  <a:rPr lang="en-US" sz="1200" i="1" dirty="0">
                    <a:solidFill>
                      <a:schemeClr val="tx1"/>
                    </a:solidFill>
                  </a:rPr>
                  <a:t>n</a:t>
                </a:r>
              </a:p>
              <a:p>
                <a:pPr algn="ctr"/>
                <a:endParaRPr lang="en-US" sz="1200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0A22956-CE8E-40A0-14A7-9D6C5EEA184E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4041464" y="2544113"/>
                <a:ext cx="97325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4D3DF-31FD-83F0-EA52-EA3983BCB864}"/>
                  </a:ext>
                </a:extLst>
              </p:cNvPr>
              <p:cNvSpPr txBox="1"/>
              <p:nvPr/>
            </p:nvSpPr>
            <p:spPr>
              <a:xfrm>
                <a:off x="6272859" y="2133548"/>
                <a:ext cx="942374" cy="482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baseline="30000" dirty="0"/>
                  <a:t>xa</a:t>
                </a:r>
                <a:r>
                  <a:rPr lang="en-US" sz="2000" baseline="30000" dirty="0"/>
                  <a:t> stream</a:t>
                </a:r>
                <a:endParaRPr lang="en-US" sz="2000" baseline="30000" dirty="0">
                  <a:solidFill>
                    <a:schemeClr val="tx1"/>
                  </a:solidFill>
                </a:endParaRPr>
              </a:p>
              <a:p>
                <a:endParaRPr lang="en-US" sz="1200" dirty="0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01C4014-D2D4-BE4B-1FFF-302AB7F74B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355804"/>
                <a:ext cx="1175619" cy="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ECABBA-D873-3DD1-71D1-5BE3E709AF28}"/>
                  </a:ext>
                </a:extLst>
              </p:cNvPr>
              <p:cNvSpPr txBox="1"/>
              <p:nvPr/>
            </p:nvSpPr>
            <p:spPr>
              <a:xfrm>
                <a:off x="2906616" y="2070245"/>
                <a:ext cx="113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From PL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9110ED-0598-378E-356E-2D8F4932D980}"/>
                  </a:ext>
                </a:extLst>
              </p:cNvPr>
              <p:cNvSpPr txBox="1"/>
              <p:nvPr/>
            </p:nvSpPr>
            <p:spPr>
              <a:xfrm>
                <a:off x="2766000" y="3097673"/>
                <a:ext cx="1415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Return to PL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355EE05-1117-C688-722F-4C73ED383591}"/>
                  </a:ext>
                </a:extLst>
              </p:cNvPr>
              <p:cNvSpPr/>
              <p:nvPr/>
            </p:nvSpPr>
            <p:spPr>
              <a:xfrm>
                <a:off x="5014716" y="2174850"/>
                <a:ext cx="1081284" cy="73852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i="1" dirty="0" err="1">
                    <a:solidFill>
                      <a:schemeClr val="tx1"/>
                    </a:solidFill>
                  </a:rPr>
                  <a:t>abc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kernel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286BB6-EEA3-3ED0-328E-B31EFD1AF544}"/>
                  </a:ext>
                </a:extLst>
              </p:cNvPr>
              <p:cNvSpPr txBox="1"/>
              <p:nvPr/>
            </p:nvSpPr>
            <p:spPr>
              <a:xfrm>
                <a:off x="6272859" y="2472741"/>
                <a:ext cx="947182" cy="482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baseline="30000" dirty="0" err="1"/>
                  <a:t>bc</a:t>
                </a:r>
                <a:r>
                  <a:rPr lang="en-US" sz="2000" baseline="30000" dirty="0"/>
                  <a:t> stream</a:t>
                </a:r>
                <a:endParaRPr lang="en-US" sz="2000" baseline="30000" dirty="0">
                  <a:solidFill>
                    <a:schemeClr val="tx1"/>
                  </a:solidFill>
                </a:endParaRPr>
              </a:p>
              <a:p>
                <a:endParaRPr lang="en-US" sz="1200" dirty="0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B6C29175-9979-FDEE-7225-2ABEAB749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694997"/>
                <a:ext cx="1175619" cy="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5CFF343-D75E-4D20-A4D3-851207F8B86E}"/>
                  </a:ext>
                </a:extLst>
              </p:cNvPr>
              <p:cNvGrpSpPr/>
              <p:nvPr/>
            </p:nvGrpSpPr>
            <p:grpSpPr>
              <a:xfrm>
                <a:off x="7271618" y="2127759"/>
                <a:ext cx="1580831" cy="794093"/>
                <a:chOff x="5555357" y="3580980"/>
                <a:chExt cx="1580831" cy="794093"/>
              </a:xfrm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27EC751-1522-395E-7984-79E2CE78C6CE}"/>
                    </a:ext>
                  </a:extLst>
                </p:cNvPr>
                <p:cNvSpPr/>
                <p:nvPr/>
              </p:nvSpPr>
              <p:spPr>
                <a:xfrm>
                  <a:off x="5555357" y="3580980"/>
                  <a:ext cx="1580831" cy="794093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Roboto" panose="020B0604020202020204" pitchFamily="2" charset="0"/>
                    </a:rPr>
                    <a:t>	   kernel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1D452E56-1FFD-4350-17FD-5A430AAE9D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95678" y="3677728"/>
                      <a:ext cx="572770" cy="57355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𝑊𝐿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1D452E56-1FFD-4350-17FD-5A430AAE9D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95678" y="3677728"/>
                      <a:ext cx="572770" cy="57355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r="-31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0D00C118-3F6A-79CB-25CF-484F47895FE0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 rot="5400000">
                <a:off x="5924938" y="1154088"/>
                <a:ext cx="369332" cy="3904861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" name="Google Shape;69;p14">
              <a:extLst>
                <a:ext uri="{FF2B5EF4-FFF2-40B4-BE49-F238E27FC236}">
                  <a16:creationId xmlns:a16="http://schemas.microsoft.com/office/drawing/2014/main" id="{E302D743-999F-F60E-8A22-016ED9FB1473}"/>
                </a:ext>
              </a:extLst>
            </p:cNvPr>
            <p:cNvSpPr txBox="1">
              <a:spLocks/>
            </p:cNvSpPr>
            <p:nvPr/>
          </p:nvSpPr>
          <p:spPr>
            <a:xfrm>
              <a:off x="5776242" y="2440762"/>
              <a:ext cx="1789427" cy="65108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b" anchorCtr="0">
              <a:normAutofit fontScale="67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>
                  <a:latin typeface="+mn-lt"/>
                </a:rPr>
                <a:t>Partials graph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60278E9-DC38-4BC8-D9F0-4D28DADEC33F}"/>
              </a:ext>
            </a:extLst>
          </p:cNvPr>
          <p:cNvSpPr txBox="1"/>
          <p:nvPr/>
        </p:nvSpPr>
        <p:spPr>
          <a:xfrm>
            <a:off x="7455841" y="1150712"/>
            <a:ext cx="4563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i="1" dirty="0"/>
              <a:t>AIE kernels can have at most 2 input and 2 output streams, so we combine x data with computed a</a:t>
            </a:r>
            <a:r>
              <a:rPr lang="en-US" i="1" baseline="30000" dirty="0"/>
              <a:t>±</a:t>
            </a:r>
            <a:r>
              <a:rPr lang="en-US" i="1" dirty="0"/>
              <a:t> data into </a:t>
            </a:r>
            <a:r>
              <a:rPr lang="en-US" b="1" i="1" dirty="0"/>
              <a:t>xa </a:t>
            </a:r>
            <a:r>
              <a:rPr lang="en-US" i="1" dirty="0"/>
              <a:t>stream. </a:t>
            </a:r>
          </a:p>
          <a:p>
            <a:pPr algn="just"/>
            <a:r>
              <a:rPr lang="en-US" i="1" dirty="0"/>
              <a:t>We also combine b</a:t>
            </a:r>
            <a:r>
              <a:rPr lang="en-US" i="1" baseline="30000" dirty="0"/>
              <a:t>±</a:t>
            </a:r>
            <a:r>
              <a:rPr lang="en-US" i="1" dirty="0"/>
              <a:t> and c</a:t>
            </a:r>
            <a:r>
              <a:rPr lang="en-US" i="1" baseline="30000" dirty="0"/>
              <a:t>±</a:t>
            </a:r>
            <a:r>
              <a:rPr lang="en-US" i="1" dirty="0"/>
              <a:t> into </a:t>
            </a:r>
            <a:r>
              <a:rPr lang="en-US" b="1" i="1" dirty="0" err="1"/>
              <a:t>bc</a:t>
            </a:r>
            <a:r>
              <a:rPr lang="en-US" i="1" dirty="0"/>
              <a:t> stream.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ECF4E2C-6892-164B-707A-9883CE298037}"/>
              </a:ext>
            </a:extLst>
          </p:cNvPr>
          <p:cNvCxnSpPr>
            <a:cxnSpLocks/>
            <a:stCxn id="46" idx="1"/>
            <a:endCxn id="9" idx="0"/>
          </p:cNvCxnSpPr>
          <p:nvPr/>
        </p:nvCxnSpPr>
        <p:spPr>
          <a:xfrm rot="10800000" flipV="1">
            <a:off x="6276471" y="1750876"/>
            <a:ext cx="1179370" cy="982883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8B651B-1A80-EB78-3511-6569340FA292}"/>
              </a:ext>
            </a:extLst>
          </p:cNvPr>
          <p:cNvSpPr txBox="1"/>
          <p:nvPr/>
        </p:nvSpPr>
        <p:spPr>
          <a:xfrm>
            <a:off x="172588" y="4448190"/>
            <a:ext cx="5868303" cy="2673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Alternative approaches: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buffers instead of streams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Variable amount of memory needed depending on net size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Combine kernels into one single kernel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Divide </a:t>
            </a:r>
            <a:r>
              <a:rPr lang="en-US" dirty="0" err="1"/>
              <a:t>abc</a:t>
            </a:r>
            <a:r>
              <a:rPr lang="en-US" dirty="0"/>
              <a:t> kernel into different kernels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dirty="0"/>
              <a:t>Might cause more problems than it solves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01A37-69CF-0089-5F04-1130E8FA69C4}"/>
              </a:ext>
            </a:extLst>
          </p:cNvPr>
          <p:cNvSpPr txBox="1"/>
          <p:nvPr/>
        </p:nvSpPr>
        <p:spPr>
          <a:xfrm>
            <a:off x="4972317" y="3683862"/>
            <a:ext cx="1416608" cy="9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baseline="30000" dirty="0"/>
              <a:t>partials</a:t>
            </a:r>
            <a:r>
              <a:rPr lang="en-US" sz="2000" baseline="30000" dirty="0"/>
              <a:t> stream</a:t>
            </a:r>
            <a:endParaRPr lang="en-US" sz="2000" baseline="30000" dirty="0">
              <a:solidFill>
                <a:schemeClr val="tx1"/>
              </a:solidFill>
            </a:endParaRPr>
          </a:p>
          <a:p>
            <a:endParaRPr lang="en-US" sz="1200" dirty="0"/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3FEA4-FA5F-67CD-BC42-B1104CD1386C}"/>
              </a:ext>
            </a:extLst>
          </p:cNvPr>
          <p:cNvSpPr txBox="1"/>
          <p:nvPr/>
        </p:nvSpPr>
        <p:spPr>
          <a:xfrm>
            <a:off x="6411958" y="4775367"/>
            <a:ext cx="3945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application fills AIE array with many partial graphs.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4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7CC-F5A2-E982-2BA2-F4579CE4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3C4B-21D1-BD9F-5305-33AEAFAF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29" y="-225558"/>
            <a:ext cx="10058400" cy="1609344"/>
          </a:xfrm>
        </p:spPr>
        <p:txBody>
          <a:bodyPr>
            <a:normAutofit/>
          </a:bodyPr>
          <a:lstStyle/>
          <a:p>
            <a:r>
              <a:rPr lang="en-US" sz="4800" dirty="0"/>
              <a:t>Partials Graph -- Stream Format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5B5674-18F3-015F-081C-E91A9B5D01BF}"/>
              </a:ext>
            </a:extLst>
          </p:cNvPr>
          <p:cNvGrpSpPr/>
          <p:nvPr/>
        </p:nvGrpSpPr>
        <p:grpSpPr>
          <a:xfrm>
            <a:off x="9585167" y="1860658"/>
            <a:ext cx="2857172" cy="2696891"/>
            <a:chOff x="9567914" y="1248182"/>
            <a:chExt cx="2857172" cy="2696891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17C2A8E1-C12C-C885-54D5-9A7E0A0E4826}"/>
                </a:ext>
              </a:extLst>
            </p:cNvPr>
            <p:cNvSpPr/>
            <p:nvPr/>
          </p:nvSpPr>
          <p:spPr>
            <a:xfrm>
              <a:off x="9567914" y="1248182"/>
              <a:ext cx="2714837" cy="2696891"/>
            </a:xfrm>
            <a:prstGeom prst="cloud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BE5F474-9925-C13D-EBFA-30AE1A69D960}"/>
                </a:ext>
              </a:extLst>
            </p:cNvPr>
            <p:cNvSpPr txBox="1"/>
            <p:nvPr/>
          </p:nvSpPr>
          <p:spPr>
            <a:xfrm>
              <a:off x="9851283" y="1661898"/>
              <a:ext cx="25738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Max and min values for each net are sent first to allow computing of: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C810636-1012-2AEE-A85A-BDB47741A986}"/>
                </a:ext>
              </a:extLst>
            </p:cNvPr>
            <p:cNvGrpSpPr/>
            <p:nvPr/>
          </p:nvGrpSpPr>
          <p:grpSpPr>
            <a:xfrm>
              <a:off x="10033165" y="2562479"/>
              <a:ext cx="1657762" cy="1053649"/>
              <a:chOff x="9924719" y="1844518"/>
              <a:chExt cx="1657762" cy="105364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D060D98D-2507-72C2-8518-2B5FB23C6DB3}"/>
                      </a:ext>
                    </a:extLst>
                  </p:cNvPr>
                  <p:cNvSpPr txBox="1"/>
                  <p:nvPr/>
                </p:nvSpPr>
                <p:spPr>
                  <a:xfrm>
                    <a:off x="9940749" y="2440926"/>
                    <a:ext cx="1625701" cy="4572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𝑚𝑖𝑛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D060D98D-2507-72C2-8518-2B5FB23C6D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40749" y="2440926"/>
                    <a:ext cx="1625701" cy="4572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BF437AA-2F6C-6053-1B3F-109D7D0BDA86}"/>
                      </a:ext>
                    </a:extLst>
                  </p:cNvPr>
                  <p:cNvSpPr txBox="1"/>
                  <p:nvPr/>
                </p:nvSpPr>
                <p:spPr>
                  <a:xfrm>
                    <a:off x="9924719" y="1844518"/>
                    <a:ext cx="1657762" cy="4572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BF437AA-2F6C-6053-1B3F-109D7D0BDA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24719" y="1844518"/>
                    <a:ext cx="1657762" cy="4572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4955B5-4CAA-086A-1EA1-6676E6CE4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221615"/>
              </p:ext>
            </p:extLst>
          </p:nvPr>
        </p:nvGraphicFramePr>
        <p:xfrm>
          <a:off x="514483" y="2954486"/>
          <a:ext cx="9336801" cy="748949"/>
        </p:xfrm>
        <a:graphic>
          <a:graphicData uri="http://schemas.openxmlformats.org/drawingml/2006/table">
            <a:tbl>
              <a:tblPr bandRow="1">
                <a:tableStyleId>{0505E3EF-67EA-436B-97B2-0124C06EBD24}</a:tableStyleId>
              </a:tblPr>
              <a:tblGrid>
                <a:gridCol w="2013236">
                  <a:extLst>
                    <a:ext uri="{9D8B030D-6E8A-4147-A177-3AD203B41FA5}">
                      <a16:colId xmlns:a16="http://schemas.microsoft.com/office/drawing/2014/main" val="1655858479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2358540183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687974027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1651670597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1897821296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153766218"/>
                    </a:ext>
                  </a:extLst>
                </a:gridCol>
              </a:tblGrid>
              <a:tr h="7489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Stream “</a:t>
                      </a:r>
                      <a:r>
                        <a:rPr lang="en-US" dirty="0" err="1"/>
                        <a:t>x_in</a:t>
                      </a:r>
                      <a:r>
                        <a:rPr lang="en-US" dirty="0"/>
                        <a:t>”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US" baseline="30000" dirty="0"/>
                    </a:p>
                    <a:p>
                      <a:pPr algn="ctr"/>
                      <a:r>
                        <a:rPr lang="en-US" sz="1800" baseline="-25000" dirty="0"/>
                        <a:t>(min value)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0</a:t>
                      </a:r>
                      <a:br>
                        <a:rPr lang="en-US" baseline="-25000" dirty="0"/>
                      </a:br>
                      <a:r>
                        <a:rPr lang="en-US" sz="1800" baseline="-25000" dirty="0"/>
                        <a:t>(max value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297638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03D6D2-DA47-08F5-9CFA-548D8301E455}"/>
              </a:ext>
            </a:extLst>
          </p:cNvPr>
          <p:cNvCxnSpPr>
            <a:cxnSpLocks/>
          </p:cNvCxnSpPr>
          <p:nvPr/>
        </p:nvCxnSpPr>
        <p:spPr>
          <a:xfrm>
            <a:off x="1491858" y="5575695"/>
            <a:ext cx="781974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F7362F-3B3E-D2AA-E7D8-5342D29FE0EA}"/>
              </a:ext>
            </a:extLst>
          </p:cNvPr>
          <p:cNvSpPr txBox="1"/>
          <p:nvPr/>
        </p:nvSpPr>
        <p:spPr>
          <a:xfrm>
            <a:off x="3997759" y="2386777"/>
            <a:ext cx="2877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dataflow direction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7302AF-B76C-3C96-1CEC-3B1F5E312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29918"/>
              </p:ext>
            </p:extLst>
          </p:nvPr>
        </p:nvGraphicFramePr>
        <p:xfrm>
          <a:off x="514483" y="3945073"/>
          <a:ext cx="9336800" cy="370840"/>
        </p:xfrm>
        <a:graphic>
          <a:graphicData uri="http://schemas.openxmlformats.org/drawingml/2006/table">
            <a:tbl>
              <a:tblPr bandRow="1">
                <a:tableStyleId>{0505E3EF-67EA-436B-97B2-0124C06EBD24}</a:tableStyleId>
              </a:tblPr>
              <a:tblGrid>
                <a:gridCol w="2044250">
                  <a:extLst>
                    <a:ext uri="{9D8B030D-6E8A-4147-A177-3AD203B41FA5}">
                      <a16:colId xmlns:a16="http://schemas.microsoft.com/office/drawing/2014/main" val="1655858479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2358540183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687974027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1651670597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1897821296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153766218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1302685388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2817610772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1835606097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3193740048"/>
                    </a:ext>
                  </a:extLst>
                </a:gridCol>
                <a:gridCol w="729255">
                  <a:extLst>
                    <a:ext uri="{9D8B030D-6E8A-4147-A177-3AD203B41FA5}">
                      <a16:colId xmlns:a16="http://schemas.microsoft.com/office/drawing/2014/main" val="3147476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Stream “xa”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1953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894586C-5812-B72D-0158-2A23312DEEF4}"/>
              </a:ext>
            </a:extLst>
          </p:cNvPr>
          <p:cNvSpPr txBox="1"/>
          <p:nvPr/>
        </p:nvSpPr>
        <p:spPr>
          <a:xfrm>
            <a:off x="514483" y="912973"/>
            <a:ext cx="2791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for </a:t>
            </a:r>
            <a:r>
              <a:rPr lang="en-US" dirty="0" err="1"/>
              <a:t>net_size</a:t>
            </a:r>
            <a:r>
              <a:rPr lang="en-US" dirty="0"/>
              <a:t> = 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68903E-D39B-C36A-5180-76637AC7F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84907"/>
              </p:ext>
            </p:extLst>
          </p:nvPr>
        </p:nvGraphicFramePr>
        <p:xfrm>
          <a:off x="2665595" y="4692702"/>
          <a:ext cx="5826942" cy="741680"/>
        </p:xfrm>
        <a:graphic>
          <a:graphicData uri="http://schemas.openxmlformats.org/drawingml/2006/table">
            <a:tbl>
              <a:tblPr bandRow="1">
                <a:tableStyleId>{0505E3EF-67EA-436B-97B2-0124C06EBD24}</a:tableStyleId>
              </a:tblPr>
              <a:tblGrid>
                <a:gridCol w="2062462">
                  <a:extLst>
                    <a:ext uri="{9D8B030D-6E8A-4147-A177-3AD203B41FA5}">
                      <a16:colId xmlns:a16="http://schemas.microsoft.com/office/drawing/2014/main" val="1655858479"/>
                    </a:ext>
                  </a:extLst>
                </a:gridCol>
                <a:gridCol w="752896">
                  <a:extLst>
                    <a:ext uri="{9D8B030D-6E8A-4147-A177-3AD203B41FA5}">
                      <a16:colId xmlns:a16="http://schemas.microsoft.com/office/drawing/2014/main" val="1911631005"/>
                    </a:ext>
                  </a:extLst>
                </a:gridCol>
                <a:gridCol w="752896">
                  <a:extLst>
                    <a:ext uri="{9D8B030D-6E8A-4147-A177-3AD203B41FA5}">
                      <a16:colId xmlns:a16="http://schemas.microsoft.com/office/drawing/2014/main" val="2817610772"/>
                    </a:ext>
                  </a:extLst>
                </a:gridCol>
                <a:gridCol w="752896">
                  <a:extLst>
                    <a:ext uri="{9D8B030D-6E8A-4147-A177-3AD203B41FA5}">
                      <a16:colId xmlns:a16="http://schemas.microsoft.com/office/drawing/2014/main" val="1835606097"/>
                    </a:ext>
                  </a:extLst>
                </a:gridCol>
                <a:gridCol w="752896">
                  <a:extLst>
                    <a:ext uri="{9D8B030D-6E8A-4147-A177-3AD203B41FA5}">
                      <a16:colId xmlns:a16="http://schemas.microsoft.com/office/drawing/2014/main" val="3193740048"/>
                    </a:ext>
                  </a:extLst>
                </a:gridCol>
                <a:gridCol w="752896">
                  <a:extLst>
                    <a:ext uri="{9D8B030D-6E8A-4147-A177-3AD203B41FA5}">
                      <a16:colId xmlns:a16="http://schemas.microsoft.com/office/drawing/2014/main" val="3147476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Stream “</a:t>
                      </a:r>
                      <a:r>
                        <a:rPr lang="en-US" dirty="0" err="1"/>
                        <a:t>bc</a:t>
                      </a:r>
                      <a:r>
                        <a:rPr lang="en-US" dirty="0"/>
                        <a:t>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30000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30000" dirty="0"/>
                        <a:t>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29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Stream “partials”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n-US" sz="1800" b="1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n-US" sz="1800" b="1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n-US" sz="1800" b="1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n-US" sz="1800" b="1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n-US" sz="1800" b="1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771201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2D7E72-2224-E837-0EA8-14902AE3C140}"/>
              </a:ext>
            </a:extLst>
          </p:cNvPr>
          <p:cNvCxnSpPr>
            <a:cxnSpLocks/>
          </p:cNvCxnSpPr>
          <p:nvPr/>
        </p:nvCxnSpPr>
        <p:spPr>
          <a:xfrm>
            <a:off x="1526424" y="2775463"/>
            <a:ext cx="781974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9AB28A8-826E-0A42-265F-DD92E0D4A4F3}"/>
              </a:ext>
            </a:extLst>
          </p:cNvPr>
          <p:cNvSpPr txBox="1"/>
          <p:nvPr/>
        </p:nvSpPr>
        <p:spPr>
          <a:xfrm>
            <a:off x="211475" y="5988095"/>
            <a:ext cx="620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This example illustrates the data order for a </a:t>
            </a:r>
            <a:r>
              <a:rPr lang="en-US" sz="1600" b="1" i="1" dirty="0"/>
              <a:t>single</a:t>
            </a:r>
            <a:r>
              <a:rPr lang="en-US" sz="1600" dirty="0"/>
              <a:t> net. </a:t>
            </a:r>
            <a:br>
              <a:rPr lang="en-US" sz="1600" dirty="0"/>
            </a:br>
            <a:r>
              <a:rPr lang="en-US" sz="1600" dirty="0"/>
              <a:t>To leverage the AIE vectorization, XY data groups of 4 nets are processed at the same time, described on the next slide.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DF59CE-85C9-9093-E1AD-4A0DF2CD1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75974"/>
              </p:ext>
            </p:extLst>
          </p:nvPr>
        </p:nvGraphicFramePr>
        <p:xfrm>
          <a:off x="514482" y="1283982"/>
          <a:ext cx="9336801" cy="914400"/>
        </p:xfrm>
        <a:graphic>
          <a:graphicData uri="http://schemas.openxmlformats.org/drawingml/2006/table">
            <a:tbl>
              <a:tblPr bandRow="1">
                <a:tableStyleId>{0505E3EF-67EA-436B-97B2-0124C06EBD24}</a:tableStyleId>
              </a:tblPr>
              <a:tblGrid>
                <a:gridCol w="2013236">
                  <a:extLst>
                    <a:ext uri="{9D8B030D-6E8A-4147-A177-3AD203B41FA5}">
                      <a16:colId xmlns:a16="http://schemas.microsoft.com/office/drawing/2014/main" val="473932836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1321734409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60245284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1813882911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3872697262"/>
                    </a:ext>
                  </a:extLst>
                </a:gridCol>
                <a:gridCol w="1464713">
                  <a:extLst>
                    <a:ext uri="{9D8B030D-6E8A-4147-A177-3AD203B41FA5}">
                      <a16:colId xmlns:a16="http://schemas.microsoft.com/office/drawing/2014/main" val="725837161"/>
                    </a:ext>
                  </a:extLst>
                </a:gridCol>
              </a:tblGrid>
              <a:tr h="774765">
                <a:tc>
                  <a:txBody>
                    <a:bodyPr/>
                    <a:lstStyle/>
                    <a:p>
                      <a:r>
                        <a:rPr lang="en-US" dirty="0"/>
                        <a:t>Sorted X data: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US" baseline="30000" dirty="0"/>
                    </a:p>
                    <a:p>
                      <a:pPr algn="ctr"/>
                      <a:r>
                        <a:rPr lang="en-US" sz="1400" baseline="-25000" dirty="0"/>
                        <a:t>(min value)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0</a:t>
                      </a:r>
                      <a:br>
                        <a:rPr lang="en-US" baseline="-25000" dirty="0"/>
                      </a:br>
                      <a:r>
                        <a:rPr lang="en-US" sz="1400" baseline="-25000" dirty="0"/>
                        <a:t>(max value</a:t>
                      </a:r>
                      <a:r>
                        <a:rPr lang="en-US" baseline="-25000" dirty="0"/>
                        <a:t>)</a:t>
                      </a: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46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880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55461-6AD5-43FF-3CCD-BCD01623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09135"/>
            <a:ext cx="10058400" cy="8075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Partials Graph -- net Groups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913BD6-2A94-5AF3-64ED-DDF145D07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05960"/>
              </p:ext>
            </p:extLst>
          </p:nvPr>
        </p:nvGraphicFramePr>
        <p:xfrm>
          <a:off x="324593" y="1192289"/>
          <a:ext cx="10182383" cy="240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938">
                  <a:extLst>
                    <a:ext uri="{9D8B030D-6E8A-4147-A177-3AD203B41FA5}">
                      <a16:colId xmlns:a16="http://schemas.microsoft.com/office/drawing/2014/main" val="92072690"/>
                    </a:ext>
                  </a:extLst>
                </a:gridCol>
                <a:gridCol w="942813">
                  <a:extLst>
                    <a:ext uri="{9D8B030D-6E8A-4147-A177-3AD203B41FA5}">
                      <a16:colId xmlns:a16="http://schemas.microsoft.com/office/drawing/2014/main" val="2550481767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93929578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2609777754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856520271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412490459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2530997903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575148723"/>
                    </a:ext>
                  </a:extLst>
                </a:gridCol>
                <a:gridCol w="1131376">
                  <a:extLst>
                    <a:ext uri="{9D8B030D-6E8A-4147-A177-3AD203B41FA5}">
                      <a16:colId xmlns:a16="http://schemas.microsoft.com/office/drawing/2014/main" val="3803191657"/>
                    </a:ext>
                  </a:extLst>
                </a:gridCol>
              </a:tblGrid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offset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62117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net_0 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net_0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net_1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net_1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net_2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net_2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net_3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net_3 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5425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0x00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node0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node0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node0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node0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node0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node0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node0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node0 Y</a:t>
                      </a:r>
                    </a:p>
                  </a:txBody>
                  <a:tcPr marL="80663" marR="80663" marT="40331" marB="40331"/>
                </a:tc>
                <a:extLst>
                  <a:ext uri="{0D108BD9-81ED-4DB2-BD59-A6C34878D82A}">
                    <a16:rowId xmlns:a16="http://schemas.microsoft.com/office/drawing/2014/main" val="2968887727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0x08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node1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node1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node1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node1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node1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node1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node1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node1 Y</a:t>
                      </a:r>
                    </a:p>
                  </a:txBody>
                  <a:tcPr marL="80663" marR="80663" marT="40331" marB="40331"/>
                </a:tc>
                <a:extLst>
                  <a:ext uri="{0D108BD9-81ED-4DB2-BD59-A6C34878D82A}">
                    <a16:rowId xmlns:a16="http://schemas.microsoft.com/office/drawing/2014/main" val="3521232191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0x10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node2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node2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node2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node2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node2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node2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node2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node2 Y</a:t>
                      </a:r>
                    </a:p>
                  </a:txBody>
                  <a:tcPr marL="80663" marR="80663" marT="40331" marB="40331"/>
                </a:tc>
                <a:extLst>
                  <a:ext uri="{0D108BD9-81ED-4DB2-BD59-A6C34878D82A}">
                    <a16:rowId xmlns:a16="http://schemas.microsoft.com/office/drawing/2014/main" val="3316896327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0x18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node3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node3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node3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node3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node3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node3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node3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node3 Y</a:t>
                      </a:r>
                    </a:p>
                  </a:txBody>
                  <a:tcPr marL="80663" marR="80663" marT="40331" marB="40331"/>
                </a:tc>
                <a:extLst>
                  <a:ext uri="{0D108BD9-81ED-4DB2-BD59-A6C34878D82A}">
                    <a16:rowId xmlns:a16="http://schemas.microsoft.com/office/drawing/2014/main" val="1715056087"/>
                  </a:ext>
                </a:extLst>
              </a:tr>
              <a:tr h="343415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0x20</a:t>
                      </a:r>
                    </a:p>
                  </a:txBody>
                  <a:tcPr marL="80663" marR="80663" marT="40331" marB="4033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node4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node4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node4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node4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node4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node4 Y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node4 X</a:t>
                      </a:r>
                    </a:p>
                  </a:txBody>
                  <a:tcPr marL="80663" marR="80663" marT="40331" marB="403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node4 Y</a:t>
                      </a:r>
                    </a:p>
                  </a:txBody>
                  <a:tcPr marL="80663" marR="80663" marT="40331" marB="40331"/>
                </a:tc>
                <a:extLst>
                  <a:ext uri="{0D108BD9-81ED-4DB2-BD59-A6C34878D82A}">
                    <a16:rowId xmlns:a16="http://schemas.microsoft.com/office/drawing/2014/main" val="9001539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64962A-87B5-CA32-EDC6-B07D60493AAC}"/>
              </a:ext>
            </a:extLst>
          </p:cNvPr>
          <p:cNvSpPr txBox="1"/>
          <p:nvPr/>
        </p:nvSpPr>
        <p:spPr>
          <a:xfrm>
            <a:off x="1738812" y="3839737"/>
            <a:ext cx="8555675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table illustrates a single “group” of nets with size = 5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Data parallelism: Vectorized AIE kernel to operates on 8 coordinates.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is the format expected by the AI Engine “</a:t>
            </a:r>
            <a:r>
              <a:rPr lang="en-US" sz="2000" dirty="0" err="1"/>
              <a:t>abc_kernel</a:t>
            </a:r>
            <a:r>
              <a:rPr lang="en-US" sz="2000" dirty="0"/>
              <a:t>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XY values are floats. TODO: try integer data type.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09A84-B42C-559C-67B4-F5DA7CF08C98}"/>
              </a:ext>
            </a:extLst>
          </p:cNvPr>
          <p:cNvSpPr txBox="1"/>
          <p:nvPr/>
        </p:nvSpPr>
        <p:spPr>
          <a:xfrm>
            <a:off x="10478857" y="1903110"/>
            <a:ext cx="1383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Max value on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BECE2-9AED-C38A-7E57-EF07CD53189A}"/>
              </a:ext>
            </a:extLst>
          </p:cNvPr>
          <p:cNvSpPr txBox="1"/>
          <p:nvPr/>
        </p:nvSpPr>
        <p:spPr>
          <a:xfrm>
            <a:off x="10484400" y="2255741"/>
            <a:ext cx="1349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Min value on net</a:t>
            </a:r>
          </a:p>
        </p:txBody>
      </p:sp>
    </p:spTree>
    <p:extLst>
      <p:ext uri="{BB962C8B-B14F-4D97-AF65-F5344CB8AC3E}">
        <p14:creationId xmlns:p14="http://schemas.microsoft.com/office/powerpoint/2010/main" val="107115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14F9-1172-9084-4BFC-EC7AB072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4963-5C38-8F20-D77B-0A95A6B3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dataflow functions to know about:</a:t>
            </a:r>
          </a:p>
          <a:p>
            <a:pPr lvl="1"/>
            <a:r>
              <a:rPr lang="en-US" dirty="0" err="1"/>
              <a:t>DataBase</a:t>
            </a:r>
            <a:r>
              <a:rPr lang="en-US" dirty="0"/>
              <a:t>::</a:t>
            </a:r>
            <a:r>
              <a:rPr lang="en-US" dirty="0" err="1"/>
              <a:t>initializePacketContents</a:t>
            </a:r>
            <a:r>
              <a:rPr lang="en-US" dirty="0"/>
              <a:t>() </a:t>
            </a:r>
          </a:p>
          <a:p>
            <a:pPr lvl="1"/>
            <a:r>
              <a:rPr lang="en-US" dirty="0" err="1"/>
              <a:t>DataBase</a:t>
            </a:r>
            <a:r>
              <a:rPr lang="en-US" dirty="0"/>
              <a:t>::</a:t>
            </a:r>
            <a:r>
              <a:rPr lang="en-US" dirty="0" err="1"/>
              <a:t>prepareNetGroup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DataBase</a:t>
            </a:r>
            <a:r>
              <a:rPr lang="en-US" dirty="0"/>
              <a:t>::</a:t>
            </a:r>
            <a:r>
              <a:rPr lang="en-US" dirty="0" err="1"/>
              <a:t>storeNetGroup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GraphDriver</a:t>
            </a:r>
            <a:r>
              <a:rPr lang="en-US" dirty="0"/>
              <a:t>::</a:t>
            </a:r>
            <a:r>
              <a:rPr lang="en-US" dirty="0" err="1"/>
              <a:t>send_packet</a:t>
            </a:r>
            <a:r>
              <a:rPr lang="en-US" dirty="0"/>
              <a:t>() </a:t>
            </a:r>
          </a:p>
          <a:p>
            <a:pPr lvl="1"/>
            <a:r>
              <a:rPr lang="en-US" dirty="0" err="1"/>
              <a:t>GraphDriver</a:t>
            </a:r>
            <a:r>
              <a:rPr lang="en-US" dirty="0"/>
              <a:t>::</a:t>
            </a:r>
            <a:r>
              <a:rPr lang="en-US" dirty="0" err="1"/>
              <a:t>receive_packet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47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4D9F-E4F1-7037-6807-91B107C3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63138"/>
            <a:ext cx="10058400" cy="5709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Database::</a:t>
            </a:r>
            <a:r>
              <a:rPr lang="en-US" sz="2800" b="1" dirty="0" err="1"/>
              <a:t>initializePacketContents</a:t>
            </a:r>
            <a:r>
              <a:rPr lang="en-US" sz="2800" b="1" dirty="0"/>
              <a:t>() </a:t>
            </a:r>
          </a:p>
          <a:p>
            <a:r>
              <a:rPr lang="en-US" dirty="0"/>
              <a:t>This function organizes net “groups” of node coordinates into “packets”</a:t>
            </a:r>
          </a:p>
          <a:p>
            <a:pPr lvl="1"/>
            <a:r>
              <a:rPr lang="en-US" sz="2000" dirty="0"/>
              <a:t>Generate packets for all nets of size 2 thru 8.</a:t>
            </a:r>
          </a:p>
          <a:p>
            <a:pPr lvl="1"/>
            <a:r>
              <a:rPr lang="en-US" sz="2000" dirty="0"/>
              <a:t>Run once to initialize the data order.</a:t>
            </a:r>
            <a:endParaRPr lang="en-US" dirty="0"/>
          </a:p>
          <a:p>
            <a:r>
              <a:rPr lang="en-US" dirty="0"/>
              <a:t>A “group” is X and Y data of 4 nets of the same size, which enables vectorization</a:t>
            </a:r>
          </a:p>
          <a:p>
            <a:endParaRPr lang="en-US" dirty="0"/>
          </a:p>
          <a:p>
            <a:r>
              <a:rPr lang="en-US" dirty="0"/>
              <a:t>A packet is a set of groups. </a:t>
            </a:r>
          </a:p>
          <a:p>
            <a:r>
              <a:rPr lang="en-US" dirty="0"/>
              <a:t>The number of </a:t>
            </a:r>
            <a:r>
              <a:rPr lang="en-US" b="1" i="1" dirty="0" err="1"/>
              <a:t>groups_per_packet</a:t>
            </a:r>
            <a:r>
              <a:rPr lang="en-US" i="1" dirty="0"/>
              <a:t>  =  </a:t>
            </a:r>
            <a:r>
              <a:rPr lang="en-US" dirty="0"/>
              <a:t>840 /</a:t>
            </a:r>
            <a:r>
              <a:rPr lang="en-US" i="1" dirty="0"/>
              <a:t> </a:t>
            </a:r>
            <a:r>
              <a:rPr lang="en-US" b="1" i="1" dirty="0" err="1"/>
              <a:t>net_size</a:t>
            </a:r>
            <a:r>
              <a:rPr lang="en-US" b="1" i="1" dirty="0"/>
              <a:t> </a:t>
            </a:r>
            <a:endParaRPr lang="en-US" b="1" dirty="0"/>
          </a:p>
          <a:p>
            <a:pPr lvl="1"/>
            <a:r>
              <a:rPr lang="en-US" dirty="0"/>
              <a:t>840 is LCM of sizes 2-8, which means all nets &lt;= 8 will fit neatly into 840 </a:t>
            </a:r>
          </a:p>
          <a:p>
            <a:pPr lvl="2"/>
            <a:r>
              <a:rPr lang="en-US" dirty="0"/>
              <a:t>also fits nets size 10, 12, 14, 15, 20, 24, 42…</a:t>
            </a:r>
          </a:p>
          <a:p>
            <a:pPr lvl="1"/>
            <a:r>
              <a:rPr lang="en-US" dirty="0"/>
              <a:t>In “</a:t>
            </a:r>
            <a:r>
              <a:rPr lang="en-US" dirty="0" err="1"/>
              <a:t>Common.h</a:t>
            </a:r>
            <a:r>
              <a:rPr lang="en-US" dirty="0"/>
              <a:t>”:</a:t>
            </a:r>
          </a:p>
          <a:p>
            <a:pPr lvl="1"/>
            <a:r>
              <a:rPr lang="en-US" dirty="0"/>
              <a:t>Could bigger or smaller packets improve performance?</a:t>
            </a:r>
          </a:p>
          <a:p>
            <a:r>
              <a:rPr lang="en-US" dirty="0"/>
              <a:t>For nets with size greater than 8, need a more generic kernel handling </a:t>
            </a:r>
          </a:p>
          <a:p>
            <a:pPr lvl="2"/>
            <a:r>
              <a:rPr lang="en-US" dirty="0"/>
              <a:t>Or, just handle large nets in code. Most nets are size 2 thru 8. </a:t>
            </a:r>
          </a:p>
          <a:p>
            <a:pPr lvl="1"/>
            <a:endParaRPr lang="en-US" i="1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BA758C-085A-EEA5-62F8-208DC19D1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86824"/>
              </p:ext>
            </p:extLst>
          </p:nvPr>
        </p:nvGraphicFramePr>
        <p:xfrm>
          <a:off x="3213818" y="2491788"/>
          <a:ext cx="43170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042">
                  <a:extLst>
                    <a:ext uri="{9D8B030D-6E8A-4147-A177-3AD203B41FA5}">
                      <a16:colId xmlns:a16="http://schemas.microsoft.com/office/drawing/2014/main" val="893214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constexpr int </a:t>
                      </a:r>
                      <a:r>
                        <a:rPr lang="en-US" b="1" i="1" dirty="0"/>
                        <a:t>NETS_PER_GROUP </a:t>
                      </a:r>
                      <a:r>
                        <a:rPr lang="en-US" i="1" dirty="0"/>
                        <a:t>= 4;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6556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0B0CA1-06AC-8B91-4DE1-526FA2FD8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428168"/>
              </p:ext>
            </p:extLst>
          </p:nvPr>
        </p:nvGraphicFramePr>
        <p:xfrm>
          <a:off x="3386346" y="4331994"/>
          <a:ext cx="466689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6891">
                  <a:extLst>
                    <a:ext uri="{9D8B030D-6E8A-4147-A177-3AD203B41FA5}">
                      <a16:colId xmlns:a16="http://schemas.microsoft.com/office/drawing/2014/main" val="893214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1"/>
                      <a:r>
                        <a:rPr lang="en-US" i="1" dirty="0"/>
                        <a:t>constexpr int </a:t>
                      </a:r>
                      <a:r>
                        <a:rPr lang="en-US" b="1" i="1" dirty="0"/>
                        <a:t>LCM</a:t>
                      </a:r>
                      <a:r>
                        <a:rPr lang="en-US" i="1" dirty="0"/>
                        <a:t>_</a:t>
                      </a:r>
                      <a:r>
                        <a:rPr lang="en-US" b="1" i="1" dirty="0"/>
                        <a:t>BUFFSIZE</a:t>
                      </a:r>
                      <a:r>
                        <a:rPr lang="en-US" i="1" dirty="0"/>
                        <a:t>  = 840;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65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57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9965-447C-871C-8C8B-1FE2808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A5F244-630A-8980-13EC-6C53ABBD3E22}"/>
              </a:ext>
            </a:extLst>
          </p:cNvPr>
          <p:cNvSpPr txBox="1">
            <a:spLocks/>
          </p:cNvSpPr>
          <p:nvPr/>
        </p:nvSpPr>
        <p:spPr>
          <a:xfrm>
            <a:off x="1066800" y="1148938"/>
            <a:ext cx="10058400" cy="5709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en-US" sz="2800" b="1" dirty="0" err="1"/>
              <a:t>DataBase</a:t>
            </a:r>
            <a:r>
              <a:rPr lang="en-US" sz="2800" b="1" dirty="0"/>
              <a:t>::</a:t>
            </a:r>
            <a:r>
              <a:rPr lang="en-US" sz="2800" b="1" dirty="0" err="1"/>
              <a:t>prepareNetGroup</a:t>
            </a:r>
            <a:r>
              <a:rPr lang="en-US" sz="2800" b="1" dirty="0"/>
              <a:t>()</a:t>
            </a:r>
          </a:p>
          <a:p>
            <a:r>
              <a:rPr lang="en-US" dirty="0"/>
              <a:t>Load coordinate data specified by database into packets.</a:t>
            </a:r>
          </a:p>
          <a:p>
            <a:pPr marL="274320" lvl="1" indent="0">
              <a:buFont typeface="Wingdings" pitchFamily="2" charset="2"/>
              <a:buNone/>
            </a:pPr>
            <a:endParaRPr lang="en-US" sz="2800" b="1" dirty="0"/>
          </a:p>
          <a:p>
            <a:pPr marL="274320" lvl="1" indent="0">
              <a:buFont typeface="Wingdings" pitchFamily="2" charset="2"/>
              <a:buNone/>
            </a:pPr>
            <a:r>
              <a:rPr lang="en-US" sz="2800" b="1" dirty="0" err="1"/>
              <a:t>DataBase</a:t>
            </a:r>
            <a:r>
              <a:rPr lang="en-US" sz="2800" b="1" dirty="0"/>
              <a:t>::</a:t>
            </a:r>
            <a:r>
              <a:rPr lang="en-US" sz="2800" b="1" dirty="0" err="1"/>
              <a:t>storeNetGroup</a:t>
            </a:r>
            <a:r>
              <a:rPr lang="en-US" sz="2800" b="1" dirty="0"/>
              <a:t>()</a:t>
            </a:r>
          </a:p>
          <a:p>
            <a:r>
              <a:rPr lang="en-US" dirty="0"/>
              <a:t>Received data from AIE processing must be placed back into memory correctly.</a:t>
            </a:r>
          </a:p>
          <a:p>
            <a:endParaRPr lang="en-US" dirty="0"/>
          </a:p>
          <a:p>
            <a:pPr marL="274320" lvl="1" indent="0">
              <a:buNone/>
            </a:pPr>
            <a:r>
              <a:rPr lang="en-US" sz="2800" b="1" dirty="0" err="1"/>
              <a:t>GraphDriver</a:t>
            </a:r>
            <a:r>
              <a:rPr lang="en-US" sz="2800" b="1" dirty="0"/>
              <a:t>::</a:t>
            </a:r>
            <a:r>
              <a:rPr lang="en-US" sz="2800" b="1" dirty="0" err="1"/>
              <a:t>send_packet</a:t>
            </a:r>
            <a:r>
              <a:rPr lang="en-US" sz="2800" b="1" dirty="0"/>
              <a:t>()</a:t>
            </a:r>
          </a:p>
          <a:p>
            <a:pPr marL="0" indent="0">
              <a:buNone/>
            </a:pPr>
            <a:r>
              <a:rPr lang="en-US" sz="2800" b="1" dirty="0"/>
              <a:t>   </a:t>
            </a:r>
            <a:r>
              <a:rPr lang="en-US" sz="2800" b="1" dirty="0" err="1"/>
              <a:t>GraphDriver</a:t>
            </a:r>
            <a:r>
              <a:rPr lang="en-US" sz="2800" b="1" dirty="0"/>
              <a:t>::</a:t>
            </a:r>
            <a:r>
              <a:rPr lang="en-US" sz="2800" b="1" dirty="0" err="1"/>
              <a:t>receive_packet</a:t>
            </a:r>
            <a:r>
              <a:rPr lang="en-US" sz="2800" b="1" dirty="0"/>
              <a:t>()</a:t>
            </a:r>
          </a:p>
          <a:p>
            <a:r>
              <a:rPr lang="en-US" dirty="0"/>
              <a:t>Performs the </a:t>
            </a:r>
            <a:r>
              <a:rPr lang="en-US" dirty="0" err="1"/>
              <a:t>xrt</a:t>
            </a:r>
            <a:r>
              <a:rPr lang="en-US" dirty="0"/>
              <a:t> API commands to send or receive full data packet transfer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3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5BC1-1367-532E-F4C4-AAF89053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63" y="11875"/>
            <a:ext cx="10058400" cy="1609344"/>
          </a:xfrm>
        </p:spPr>
        <p:txBody>
          <a:bodyPr/>
          <a:lstStyle/>
          <a:p>
            <a:pPr algn="r"/>
            <a:r>
              <a:rPr lang="en-US" dirty="0"/>
              <a:t>Codebase Dataflow</a:t>
            </a: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824AB167-08C7-56AD-26A0-FAAACBBA2042}"/>
              </a:ext>
            </a:extLst>
          </p:cNvPr>
          <p:cNvSpPr/>
          <p:nvPr/>
        </p:nvSpPr>
        <p:spPr>
          <a:xfrm>
            <a:off x="588486" y="1429797"/>
            <a:ext cx="3321170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</a:t>
            </a:r>
            <a:r>
              <a:rPr lang="en-US" dirty="0"/>
              <a:t>:: </a:t>
            </a:r>
            <a:r>
              <a:rPr lang="en-US" dirty="0" err="1"/>
              <a:t>initializePacketContents</a:t>
            </a:r>
            <a:r>
              <a:rPr lang="en-US" dirty="0"/>
              <a:t>()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A80B43A-0211-AF69-A0CC-1C3C9C8B75F7}"/>
              </a:ext>
            </a:extLst>
          </p:cNvPr>
          <p:cNvSpPr/>
          <p:nvPr/>
        </p:nvSpPr>
        <p:spPr>
          <a:xfrm>
            <a:off x="588486" y="609939"/>
            <a:ext cx="3321170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</a:t>
            </a:r>
            <a:r>
              <a:rPr lang="en-US" dirty="0"/>
              <a:t>::</a:t>
            </a:r>
            <a:r>
              <a:rPr lang="en-US" dirty="0" err="1"/>
              <a:t>readDEF</a:t>
            </a:r>
            <a:r>
              <a:rPr lang="en-US" dirty="0"/>
              <a:t>()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765B249-619D-F4EA-1FA3-6B9743AB7DB1}"/>
              </a:ext>
            </a:extLst>
          </p:cNvPr>
          <p:cNvSpPr/>
          <p:nvPr/>
        </p:nvSpPr>
        <p:spPr>
          <a:xfrm>
            <a:off x="5776501" y="1621219"/>
            <a:ext cx="2675813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</a:t>
            </a:r>
            <a:r>
              <a:rPr lang="en-US" dirty="0"/>
              <a:t>:: </a:t>
            </a:r>
            <a:r>
              <a:rPr lang="en-US" dirty="0" err="1"/>
              <a:t>prepareNetGroup</a:t>
            </a:r>
            <a:r>
              <a:rPr lang="en-US" dirty="0"/>
              <a:t>()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6A5E136-4948-74D2-6F5A-94D164B64DDF}"/>
              </a:ext>
            </a:extLst>
          </p:cNvPr>
          <p:cNvSpPr/>
          <p:nvPr/>
        </p:nvSpPr>
        <p:spPr>
          <a:xfrm>
            <a:off x="6678285" y="2526129"/>
            <a:ext cx="2119222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GraphDriver</a:t>
            </a:r>
            <a:r>
              <a:rPr lang="en-US" dirty="0"/>
              <a:t>:: </a:t>
            </a:r>
            <a:r>
              <a:rPr lang="en-US" dirty="0" err="1"/>
              <a:t>send_packet</a:t>
            </a:r>
            <a:r>
              <a:rPr lang="en-US" dirty="0"/>
              <a:t>()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B8B03BB-DA09-84FA-CDD7-4AD2A410B8CC}"/>
              </a:ext>
            </a:extLst>
          </p:cNvPr>
          <p:cNvSpPr/>
          <p:nvPr/>
        </p:nvSpPr>
        <p:spPr>
          <a:xfrm>
            <a:off x="8360942" y="5189333"/>
            <a:ext cx="2119222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GraphDriver</a:t>
            </a:r>
            <a:r>
              <a:rPr lang="en-US" dirty="0"/>
              <a:t>:: </a:t>
            </a:r>
            <a:r>
              <a:rPr lang="en-US" dirty="0" err="1"/>
              <a:t>receive_packet</a:t>
            </a:r>
            <a:r>
              <a:rPr lang="en-US" dirty="0"/>
              <a:t>()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7D0027-22C6-C659-40EF-835D2F0F900B}"/>
              </a:ext>
            </a:extLst>
          </p:cNvPr>
          <p:cNvGrpSpPr/>
          <p:nvPr/>
        </p:nvGrpSpPr>
        <p:grpSpPr>
          <a:xfrm>
            <a:off x="6933665" y="3213444"/>
            <a:ext cx="4813345" cy="1631396"/>
            <a:chOff x="5922431" y="3288483"/>
            <a:chExt cx="4813345" cy="163139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8D1D872-7845-D2E3-FB5A-80ABB55C7520}"/>
                </a:ext>
              </a:extLst>
            </p:cNvPr>
            <p:cNvGrpSpPr/>
            <p:nvPr/>
          </p:nvGrpSpPr>
          <p:grpSpPr>
            <a:xfrm>
              <a:off x="6152417" y="3874779"/>
              <a:ext cx="3837733" cy="827165"/>
              <a:chOff x="6152417" y="3874779"/>
              <a:chExt cx="3837733" cy="82716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E7CD770-645B-389C-1E9E-48CAEAF11CB4}"/>
                  </a:ext>
                </a:extLst>
              </p:cNvPr>
              <p:cNvGrpSpPr/>
              <p:nvPr/>
            </p:nvGrpSpPr>
            <p:grpSpPr>
              <a:xfrm>
                <a:off x="7233701" y="3880568"/>
                <a:ext cx="1175619" cy="482183"/>
                <a:chOff x="7233701" y="3880568"/>
                <a:chExt cx="1175619" cy="482183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82ABB91-3F57-E199-8D10-9FDC10616C1A}"/>
                    </a:ext>
                  </a:extLst>
                </p:cNvPr>
                <p:cNvSpPr txBox="1"/>
                <p:nvPr/>
              </p:nvSpPr>
              <p:spPr>
                <a:xfrm>
                  <a:off x="7410560" y="3880568"/>
                  <a:ext cx="942374" cy="4821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 baseline="30000" dirty="0"/>
                    <a:t>xa</a:t>
                  </a:r>
                  <a:r>
                    <a:rPr lang="en-US" sz="2000" baseline="30000" dirty="0"/>
                    <a:t> stream</a:t>
                  </a:r>
                  <a:endParaRPr lang="en-US" sz="2000" baseline="30000" dirty="0">
                    <a:solidFill>
                      <a:schemeClr val="tx1"/>
                    </a:solidFill>
                  </a:endParaRPr>
                </a:p>
                <a:p>
                  <a:endParaRPr lang="en-US" sz="1200" dirty="0"/>
                </a:p>
              </p:txBody>
            </p: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02AE11D-235C-B346-D6E5-3179F4749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3701" y="4102824"/>
                  <a:ext cx="1175619" cy="1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E3A48E7-8FD4-3D1B-EE6E-B91D38E3E9E2}"/>
                  </a:ext>
                </a:extLst>
              </p:cNvPr>
              <p:cNvSpPr/>
              <p:nvPr/>
            </p:nvSpPr>
            <p:spPr>
              <a:xfrm>
                <a:off x="6152417" y="3921870"/>
                <a:ext cx="1081284" cy="73852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i="1" dirty="0" err="1">
                    <a:solidFill>
                      <a:schemeClr val="tx1"/>
                    </a:solidFill>
                  </a:rPr>
                  <a:t>abc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kernel</a:t>
                </a:r>
              </a:p>
              <a:p>
                <a:pPr algn="ctr"/>
                <a:endParaRPr lang="en-US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9B5A29A-36C0-54C3-46AB-003C051F7779}"/>
                  </a:ext>
                </a:extLst>
              </p:cNvPr>
              <p:cNvGrpSpPr/>
              <p:nvPr/>
            </p:nvGrpSpPr>
            <p:grpSpPr>
              <a:xfrm>
                <a:off x="7233701" y="4219761"/>
                <a:ext cx="1175619" cy="482183"/>
                <a:chOff x="7233701" y="4219761"/>
                <a:chExt cx="1175619" cy="482183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0BC5E4C-0F16-89AE-0D45-1E663EC29DE7}"/>
                    </a:ext>
                  </a:extLst>
                </p:cNvPr>
                <p:cNvSpPr txBox="1"/>
                <p:nvPr/>
              </p:nvSpPr>
              <p:spPr>
                <a:xfrm>
                  <a:off x="7410560" y="4219761"/>
                  <a:ext cx="947182" cy="4821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 baseline="30000" dirty="0" err="1"/>
                    <a:t>bc</a:t>
                  </a:r>
                  <a:r>
                    <a:rPr lang="en-US" sz="2000" baseline="30000" dirty="0"/>
                    <a:t> stream</a:t>
                  </a:r>
                  <a:endParaRPr lang="en-US" sz="2000" baseline="30000" dirty="0">
                    <a:solidFill>
                      <a:schemeClr val="tx1"/>
                    </a:solidFill>
                  </a:endParaRPr>
                </a:p>
                <a:p>
                  <a:endParaRPr lang="en-US" sz="1200" dirty="0"/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D835BFDF-E601-C3EE-EC5E-0337DF4E3B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3701" y="4442017"/>
                  <a:ext cx="1175619" cy="1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A870D58-F28D-B2DC-CFB6-4962E8790FEA}"/>
                  </a:ext>
                </a:extLst>
              </p:cNvPr>
              <p:cNvGrpSpPr/>
              <p:nvPr/>
            </p:nvGrpSpPr>
            <p:grpSpPr>
              <a:xfrm>
                <a:off x="8409319" y="3874779"/>
                <a:ext cx="1580831" cy="794093"/>
                <a:chOff x="8736360" y="4330882"/>
                <a:chExt cx="1580831" cy="794093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B54F1E48-E3B7-1F3E-DDE0-E52445D4DB54}"/>
                    </a:ext>
                  </a:extLst>
                </p:cNvPr>
                <p:cNvSpPr/>
                <p:nvPr/>
              </p:nvSpPr>
              <p:spPr>
                <a:xfrm>
                  <a:off x="8736360" y="4330882"/>
                  <a:ext cx="1580831" cy="794093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Roboto" panose="020B0604020202020204" pitchFamily="2" charset="0"/>
                    </a:rPr>
                    <a:t>	   kernel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44959413-EBA5-D07B-BA8B-016B0758B9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56834" y="4460457"/>
                      <a:ext cx="572770" cy="57355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𝑊𝐿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44959413-EBA5-D07B-BA8B-016B0758B9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56834" y="4460457"/>
                      <a:ext cx="572770" cy="57355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r="-31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E6F031E-C6B1-9423-C1E5-A6BE873B1249}"/>
                </a:ext>
              </a:extLst>
            </p:cNvPr>
            <p:cNvGrpSpPr/>
            <p:nvPr/>
          </p:nvGrpSpPr>
          <p:grpSpPr>
            <a:xfrm>
              <a:off x="5922431" y="3288483"/>
              <a:ext cx="4813345" cy="1631396"/>
              <a:chOff x="5922431" y="3288483"/>
              <a:chExt cx="4813345" cy="163139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8F428D-7BC1-DE51-CFBE-09D702C3A378}"/>
                  </a:ext>
                </a:extLst>
              </p:cNvPr>
              <p:cNvSpPr/>
              <p:nvPr/>
            </p:nvSpPr>
            <p:spPr>
              <a:xfrm>
                <a:off x="5922431" y="3322174"/>
                <a:ext cx="4243018" cy="1597705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oogle Shape;69;p14">
                <a:extLst>
                  <a:ext uri="{FF2B5EF4-FFF2-40B4-BE49-F238E27FC236}">
                    <a16:creationId xmlns:a16="http://schemas.microsoft.com/office/drawing/2014/main" id="{A3E0D84D-A245-E6F1-04BB-11814B4CD6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46349" y="3288483"/>
                <a:ext cx="1789427" cy="651083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b" anchorCtr="0">
                <a:normAutofit fontScale="67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tile tx="6350" ty="-127000" sx="65000" sy="64000" flip="none" algn="tl"/>
                    </a:blip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dirty="0">
                    <a:latin typeface="+mn-lt"/>
                  </a:rPr>
                  <a:t>Partials graph</a:t>
                </a:r>
              </a:p>
            </p:txBody>
          </p:sp>
        </p:grpSp>
      </p:grp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9FCDE16-BDDB-FBC5-56AE-614E59A9A097}"/>
              </a:ext>
            </a:extLst>
          </p:cNvPr>
          <p:cNvSpPr/>
          <p:nvPr/>
        </p:nvSpPr>
        <p:spPr>
          <a:xfrm>
            <a:off x="5340378" y="5935918"/>
            <a:ext cx="2675813" cy="53483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</a:t>
            </a:r>
            <a:r>
              <a:rPr lang="en-US" dirty="0"/>
              <a:t>:: </a:t>
            </a:r>
            <a:r>
              <a:rPr lang="en-US" dirty="0" err="1"/>
              <a:t>storeNetGroup</a:t>
            </a:r>
            <a:r>
              <a:rPr lang="en-US" dirty="0"/>
              <a:t>()</a:t>
            </a:r>
          </a:p>
        </p:txBody>
      </p:sp>
      <p:sp>
        <p:nvSpPr>
          <p:cNvPr id="26" name="Cloud 25">
            <a:extLst>
              <a:ext uri="{FF2B5EF4-FFF2-40B4-BE49-F238E27FC236}">
                <a16:creationId xmlns:a16="http://schemas.microsoft.com/office/drawing/2014/main" id="{BAAF9DDF-CBA0-50E2-7279-AE09A03CB0D3}"/>
              </a:ext>
            </a:extLst>
          </p:cNvPr>
          <p:cNvSpPr/>
          <p:nvPr/>
        </p:nvSpPr>
        <p:spPr>
          <a:xfrm>
            <a:off x="3068870" y="3247135"/>
            <a:ext cx="2378725" cy="200195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 Coordinate update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4C52A0-BC0D-62E0-8429-727226946F0A}"/>
              </a:ext>
            </a:extLst>
          </p:cNvPr>
          <p:cNvSpPr/>
          <p:nvPr/>
        </p:nvSpPr>
        <p:spPr>
          <a:xfrm>
            <a:off x="219439" y="134493"/>
            <a:ext cx="4059264" cy="22809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oogle Shape;69;p14">
            <a:extLst>
              <a:ext uri="{FF2B5EF4-FFF2-40B4-BE49-F238E27FC236}">
                <a16:creationId xmlns:a16="http://schemas.microsoft.com/office/drawing/2014/main" id="{3692A062-2FA1-2975-8005-848F288A30AC}"/>
              </a:ext>
            </a:extLst>
          </p:cNvPr>
          <p:cNvSpPr txBox="1">
            <a:spLocks/>
          </p:cNvSpPr>
          <p:nvPr/>
        </p:nvSpPr>
        <p:spPr>
          <a:xfrm>
            <a:off x="219438" y="17253"/>
            <a:ext cx="1412554" cy="65108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lt"/>
              </a:rPr>
              <a:t>Setup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13500E-561E-B227-D322-5804B8F15618}"/>
              </a:ext>
            </a:extLst>
          </p:cNvPr>
          <p:cNvCxnSpPr>
            <a:stCxn id="5" idx="2"/>
            <a:endCxn id="3" idx="0"/>
          </p:cNvCxnSpPr>
          <p:nvPr/>
        </p:nvCxnSpPr>
        <p:spPr>
          <a:xfrm>
            <a:off x="2249071" y="1144777"/>
            <a:ext cx="0" cy="285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A4E4E0-8990-AACE-2280-C405A5719D0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09656" y="1697216"/>
            <a:ext cx="1866845" cy="191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5FB1F35-DCB1-CDA5-C156-06FB9E6AF59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114408" y="2156057"/>
            <a:ext cx="623488" cy="370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C7F5922-1EA9-F884-7B6A-6FC348771CBF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7704293" y="3060967"/>
            <a:ext cx="33603" cy="7858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810561C-9CD4-076D-DE79-A29C9E4DCF82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flipH="1">
            <a:off x="9420553" y="4593833"/>
            <a:ext cx="790416" cy="595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31CE9D8-EB09-458F-1E8D-7E3E4015D5DA}"/>
              </a:ext>
            </a:extLst>
          </p:cNvPr>
          <p:cNvCxnSpPr>
            <a:cxnSpLocks/>
            <a:stCxn id="8" idx="2"/>
            <a:endCxn id="24" idx="3"/>
          </p:cNvCxnSpPr>
          <p:nvPr/>
        </p:nvCxnSpPr>
        <p:spPr>
          <a:xfrm flipH="1">
            <a:off x="8016191" y="5724171"/>
            <a:ext cx="1404362" cy="479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9ED5D4-57C4-1377-0B51-3EDBE4ABFE3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511615" y="5189333"/>
            <a:ext cx="828763" cy="10140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1F06F3F-EDFB-9B9E-7AD1-7FAB8C810091}"/>
              </a:ext>
            </a:extLst>
          </p:cNvPr>
          <p:cNvCxnSpPr>
            <a:cxnSpLocks/>
          </p:cNvCxnSpPr>
          <p:nvPr/>
        </p:nvCxnSpPr>
        <p:spPr>
          <a:xfrm flipV="1">
            <a:off x="4606506" y="2129371"/>
            <a:ext cx="1169995" cy="11177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87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AE55007-634F-55BB-6CF6-299DABFE06F8}"/>
              </a:ext>
            </a:extLst>
          </p:cNvPr>
          <p:cNvSpPr/>
          <p:nvPr/>
        </p:nvSpPr>
        <p:spPr>
          <a:xfrm>
            <a:off x="3014548" y="3340549"/>
            <a:ext cx="6185139" cy="13951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A22956-CE8E-40A0-14A7-9D6C5EEA184E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712623" y="4074102"/>
            <a:ext cx="6853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1C4014-D2D4-BE4B-1FFF-302AB7F74B84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4479226" y="4074102"/>
            <a:ext cx="3579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355EE05-1117-C688-722F-4C73ED383591}"/>
              </a:ext>
            </a:extLst>
          </p:cNvPr>
          <p:cNvSpPr/>
          <p:nvPr/>
        </p:nvSpPr>
        <p:spPr>
          <a:xfrm>
            <a:off x="3397942" y="3704839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DCT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(AIE)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06D13D-4200-A951-11B8-5740984A20B7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5918496" y="4074102"/>
            <a:ext cx="3579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778156-D58E-ED74-0799-D241AB3726A2}"/>
              </a:ext>
            </a:extLst>
          </p:cNvPr>
          <p:cNvSpPr/>
          <p:nvPr/>
        </p:nvSpPr>
        <p:spPr>
          <a:xfrm>
            <a:off x="4837212" y="3704839"/>
            <a:ext cx="1081284" cy="738525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Transpose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(PL)</a:t>
            </a:r>
          </a:p>
          <a:p>
            <a:pPr algn="ctr"/>
            <a:endParaRPr lang="en-US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AD7ADB-7974-EA1F-B4F8-1E7425FE027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357766" y="4074102"/>
            <a:ext cx="3579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94FF4B-551D-2303-3FE6-F31378143D79}"/>
              </a:ext>
            </a:extLst>
          </p:cNvPr>
          <p:cNvSpPr/>
          <p:nvPr/>
        </p:nvSpPr>
        <p:spPr>
          <a:xfrm>
            <a:off x="6276482" y="3704839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DCT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(AIE)</a:t>
            </a:r>
          </a:p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AAD86E-E1CA-0828-9086-FB359E21172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797036" y="4074102"/>
            <a:ext cx="7649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855382-22A2-3353-E24F-CE18A32541E0}"/>
              </a:ext>
            </a:extLst>
          </p:cNvPr>
          <p:cNvSpPr/>
          <p:nvPr/>
        </p:nvSpPr>
        <p:spPr>
          <a:xfrm>
            <a:off x="7715752" y="3704839"/>
            <a:ext cx="1081284" cy="738525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Transpose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(PL)</a:t>
            </a:r>
          </a:p>
          <a:p>
            <a:pPr algn="ctr"/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132605-5571-E40B-2C26-C29D07E1B72A}"/>
              </a:ext>
            </a:extLst>
          </p:cNvPr>
          <p:cNvSpPr txBox="1"/>
          <p:nvPr/>
        </p:nvSpPr>
        <p:spPr>
          <a:xfrm>
            <a:off x="2950768" y="3278378"/>
            <a:ext cx="89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2D-DCT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755BA1-6DF7-1256-9269-E0E70337803B}"/>
              </a:ext>
            </a:extLst>
          </p:cNvPr>
          <p:cNvSpPr/>
          <p:nvPr/>
        </p:nvSpPr>
        <p:spPr>
          <a:xfrm>
            <a:off x="4991558" y="5621114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Shuffle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(PL or AIE)</a:t>
            </a:r>
            <a:endParaRPr lang="en-US" sz="12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A56985-B0CF-64CF-351B-8B0B33075BA1}"/>
              </a:ext>
            </a:extLst>
          </p:cNvPr>
          <p:cNvSpPr/>
          <p:nvPr/>
        </p:nvSpPr>
        <p:spPr>
          <a:xfrm>
            <a:off x="6430828" y="5621114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FFT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(AIE)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6AE7A5-1573-0979-DB54-638E78FB1789}"/>
              </a:ext>
            </a:extLst>
          </p:cNvPr>
          <p:cNvSpPr/>
          <p:nvPr/>
        </p:nvSpPr>
        <p:spPr>
          <a:xfrm>
            <a:off x="7870098" y="5621113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Post-processing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(PL or AIE)</a:t>
            </a:r>
            <a:endParaRPr lang="en-US" sz="1200" dirty="0"/>
          </a:p>
          <a:p>
            <a:pPr algn="ctr"/>
            <a:endParaRPr lang="en-US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86B5BA-CF1D-D18C-EE7B-24557632A0B4}"/>
              </a:ext>
            </a:extLst>
          </p:cNvPr>
          <p:cNvCxnSpPr>
            <a:cxnSpLocks/>
          </p:cNvCxnSpPr>
          <p:nvPr/>
        </p:nvCxnSpPr>
        <p:spPr>
          <a:xfrm>
            <a:off x="7521740" y="5990375"/>
            <a:ext cx="3579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86A97D-6976-91DC-A760-8DA6E6412693}"/>
              </a:ext>
            </a:extLst>
          </p:cNvPr>
          <p:cNvCxnSpPr>
            <a:cxnSpLocks/>
          </p:cNvCxnSpPr>
          <p:nvPr/>
        </p:nvCxnSpPr>
        <p:spPr>
          <a:xfrm>
            <a:off x="6072842" y="5990631"/>
            <a:ext cx="3579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1AE2F9-DB46-FE76-862A-4F17375FF572}"/>
              </a:ext>
            </a:extLst>
          </p:cNvPr>
          <p:cNvCxnSpPr>
            <a:cxnSpLocks/>
          </p:cNvCxnSpPr>
          <p:nvPr/>
        </p:nvCxnSpPr>
        <p:spPr>
          <a:xfrm>
            <a:off x="4306239" y="5990375"/>
            <a:ext cx="6853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C6EF58-1754-B878-CDED-5BAD9FC48959}"/>
              </a:ext>
            </a:extLst>
          </p:cNvPr>
          <p:cNvCxnSpPr>
            <a:cxnSpLocks/>
          </p:cNvCxnSpPr>
          <p:nvPr/>
        </p:nvCxnSpPr>
        <p:spPr>
          <a:xfrm>
            <a:off x="8951382" y="5990375"/>
            <a:ext cx="6853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57E2879-F583-1F7B-1DB1-7B019173A4A7}"/>
              </a:ext>
            </a:extLst>
          </p:cNvPr>
          <p:cNvSpPr/>
          <p:nvPr/>
        </p:nvSpPr>
        <p:spPr>
          <a:xfrm>
            <a:off x="4672143" y="5273814"/>
            <a:ext cx="4538663" cy="13951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10A21C-7B1F-4AD5-3934-5082D6BE1A00}"/>
              </a:ext>
            </a:extLst>
          </p:cNvPr>
          <p:cNvSpPr txBox="1"/>
          <p:nvPr/>
        </p:nvSpPr>
        <p:spPr>
          <a:xfrm>
            <a:off x="4648898" y="5231907"/>
            <a:ext cx="56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8765DE-80DD-5A2B-39AA-EA7DD673E19D}"/>
              </a:ext>
            </a:extLst>
          </p:cNvPr>
          <p:cNvCxnSpPr>
            <a:cxnSpLocks/>
          </p:cNvCxnSpPr>
          <p:nvPr/>
        </p:nvCxnSpPr>
        <p:spPr>
          <a:xfrm flipH="1">
            <a:off x="4672143" y="4388298"/>
            <a:ext cx="1640122" cy="8635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347701C-1702-761C-9491-986C20BBE854}"/>
              </a:ext>
            </a:extLst>
          </p:cNvPr>
          <p:cNvCxnSpPr>
            <a:cxnSpLocks/>
          </p:cNvCxnSpPr>
          <p:nvPr/>
        </p:nvCxnSpPr>
        <p:spPr>
          <a:xfrm>
            <a:off x="7353442" y="4388298"/>
            <a:ext cx="1846245" cy="87222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FC4A9AB-1954-F70A-62AF-44704CD7D4F2}"/>
              </a:ext>
            </a:extLst>
          </p:cNvPr>
          <p:cNvSpPr/>
          <p:nvPr/>
        </p:nvSpPr>
        <p:spPr>
          <a:xfrm>
            <a:off x="3003430" y="1089765"/>
            <a:ext cx="6185139" cy="19241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09270B-8790-3ECC-D916-BB321124C328}"/>
              </a:ext>
            </a:extLst>
          </p:cNvPr>
          <p:cNvCxnSpPr>
            <a:cxnSpLocks/>
            <a:stCxn id="106" idx="3"/>
            <a:endCxn id="56" idx="1"/>
          </p:cNvCxnSpPr>
          <p:nvPr/>
        </p:nvCxnSpPr>
        <p:spPr>
          <a:xfrm flipV="1">
            <a:off x="2598120" y="2081469"/>
            <a:ext cx="172374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5DBC47D-7762-F97D-201A-DC21591D8946}"/>
              </a:ext>
            </a:extLst>
          </p:cNvPr>
          <p:cNvSpPr/>
          <p:nvPr/>
        </p:nvSpPr>
        <p:spPr>
          <a:xfrm>
            <a:off x="4321863" y="1712206"/>
            <a:ext cx="1104529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2D-DCT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B65229-F3E8-F0FE-8AB4-D0EF67DC0854}"/>
              </a:ext>
            </a:extLst>
          </p:cNvPr>
          <p:cNvSpPr txBox="1"/>
          <p:nvPr/>
        </p:nvSpPr>
        <p:spPr>
          <a:xfrm>
            <a:off x="3016519" y="1084795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Density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96DED7A-40FA-DA95-91F3-8C5A91E6D6EB}"/>
              </a:ext>
            </a:extLst>
          </p:cNvPr>
          <p:cNvCxnSpPr>
            <a:cxnSpLocks/>
          </p:cNvCxnSpPr>
          <p:nvPr/>
        </p:nvCxnSpPr>
        <p:spPr>
          <a:xfrm flipH="1">
            <a:off x="3014548" y="2408086"/>
            <a:ext cx="1307314" cy="92749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3FD20B4-674D-A43D-AB7A-6DA95181C6FD}"/>
              </a:ext>
            </a:extLst>
          </p:cNvPr>
          <p:cNvCxnSpPr>
            <a:cxnSpLocks/>
          </p:cNvCxnSpPr>
          <p:nvPr/>
        </p:nvCxnSpPr>
        <p:spPr>
          <a:xfrm>
            <a:off x="5426392" y="2425947"/>
            <a:ext cx="2638720" cy="8992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B2F0C5F-52C1-360A-C89B-04357759055D}"/>
              </a:ext>
            </a:extLst>
          </p:cNvPr>
          <p:cNvSpPr/>
          <p:nvPr/>
        </p:nvSpPr>
        <p:spPr>
          <a:xfrm>
            <a:off x="6699701" y="2108257"/>
            <a:ext cx="844549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IDXST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7BA0902-E2DC-8D43-A550-547DC1B8245F}"/>
              </a:ext>
            </a:extLst>
          </p:cNvPr>
          <p:cNvCxnSpPr>
            <a:cxnSpLocks/>
          </p:cNvCxnSpPr>
          <p:nvPr/>
        </p:nvCxnSpPr>
        <p:spPr>
          <a:xfrm>
            <a:off x="7557509" y="1590517"/>
            <a:ext cx="52086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A3B7463-A831-2BC7-A124-BEA8D95EEBD7}"/>
              </a:ext>
            </a:extLst>
          </p:cNvPr>
          <p:cNvCxnSpPr>
            <a:cxnSpLocks/>
          </p:cNvCxnSpPr>
          <p:nvPr/>
        </p:nvCxnSpPr>
        <p:spPr>
          <a:xfrm>
            <a:off x="7544249" y="2477519"/>
            <a:ext cx="52086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4C1E607-C7C0-83A6-435C-64719B65AE10}"/>
                  </a:ext>
                </a:extLst>
              </p:cNvPr>
              <p:cNvSpPr txBox="1"/>
              <p:nvPr/>
            </p:nvSpPr>
            <p:spPr>
              <a:xfrm>
                <a:off x="2193611" y="1866026"/>
                <a:ext cx="40450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4C1E607-C7C0-83A6-435C-64719B65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611" y="1866026"/>
                <a:ext cx="4045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1DB336B9-CF84-26B6-DA2E-8B6A55339F98}"/>
              </a:ext>
            </a:extLst>
          </p:cNvPr>
          <p:cNvSpPr/>
          <p:nvPr/>
        </p:nvSpPr>
        <p:spPr>
          <a:xfrm>
            <a:off x="6699700" y="1242774"/>
            <a:ext cx="844549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IDCT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5E7E60B7-6268-9EBC-59EA-D5424F37B726}"/>
              </a:ext>
            </a:extLst>
          </p:cNvPr>
          <p:cNvSpPr/>
          <p:nvPr/>
        </p:nvSpPr>
        <p:spPr>
          <a:xfrm>
            <a:off x="8073412" y="2098154"/>
            <a:ext cx="844549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IDCT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AE856642-4703-3E5E-CC7D-A56B9CC5F434}"/>
              </a:ext>
            </a:extLst>
          </p:cNvPr>
          <p:cNvSpPr/>
          <p:nvPr/>
        </p:nvSpPr>
        <p:spPr>
          <a:xfrm>
            <a:off x="8091632" y="1242774"/>
            <a:ext cx="844549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IDXST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C6AC75B-10D2-8526-77E1-E9BF743A57DE}"/>
              </a:ext>
            </a:extLst>
          </p:cNvPr>
          <p:cNvCxnSpPr>
            <a:cxnSpLocks/>
          </p:cNvCxnSpPr>
          <p:nvPr/>
        </p:nvCxnSpPr>
        <p:spPr>
          <a:xfrm>
            <a:off x="8495687" y="593122"/>
            <a:ext cx="9613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2F80F17-9047-92C4-07EB-8329F2AD6C00}"/>
              </a:ext>
            </a:extLst>
          </p:cNvPr>
          <p:cNvCxnSpPr>
            <a:cxnSpLocks/>
          </p:cNvCxnSpPr>
          <p:nvPr/>
        </p:nvCxnSpPr>
        <p:spPr>
          <a:xfrm>
            <a:off x="8922921" y="2466093"/>
            <a:ext cx="52086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70CE198-FEAB-FE34-1813-48838E7A23E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03359" y="1708444"/>
            <a:ext cx="486117" cy="293305"/>
          </a:xfrm>
          <a:prstGeom prst="bentConnector3">
            <a:avLst>
              <a:gd name="adj1" fmla="val 10130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58B8739-79FF-955D-FE46-18FA31475973}"/>
              </a:ext>
            </a:extLst>
          </p:cNvPr>
          <p:cNvCxnSpPr>
            <a:cxnSpLocks/>
            <a:stCxn id="56" idx="3"/>
            <a:endCxn id="77" idx="1"/>
          </p:cNvCxnSpPr>
          <p:nvPr/>
        </p:nvCxnSpPr>
        <p:spPr>
          <a:xfrm>
            <a:off x="5426392" y="2081469"/>
            <a:ext cx="1273309" cy="396051"/>
          </a:xfrm>
          <a:prstGeom prst="bentConnector3">
            <a:avLst>
              <a:gd name="adj1" fmla="val 7704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33E047E-8F76-8A3C-2C5A-9A0AE6C4FA12}"/>
                  </a:ext>
                </a:extLst>
              </p:cNvPr>
              <p:cNvSpPr txBox="1"/>
              <p:nvPr/>
            </p:nvSpPr>
            <p:spPr>
              <a:xfrm>
                <a:off x="5671081" y="1738950"/>
                <a:ext cx="40450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𝑢𝑣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33E047E-8F76-8A3C-2C5A-9A0AE6C4F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081" y="1738950"/>
                <a:ext cx="404509" cy="307777"/>
              </a:xfrm>
              <a:prstGeom prst="rect">
                <a:avLst/>
              </a:prstGeom>
              <a:blipFill>
                <a:blip r:embed="rId3"/>
                <a:stretch>
                  <a:fillRect l="-14925" r="-46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476E928-FF29-C71F-4736-25FA580D0BD8}"/>
                  </a:ext>
                </a:extLst>
              </p:cNvPr>
              <p:cNvSpPr txBox="1"/>
              <p:nvPr/>
            </p:nvSpPr>
            <p:spPr>
              <a:xfrm>
                <a:off x="9441012" y="2262075"/>
                <a:ext cx="5208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476E928-FF29-C71F-4736-25FA580D0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012" y="2262075"/>
                <a:ext cx="52086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350283-64D0-6182-C1E7-037E61806147}"/>
                  </a:ext>
                </a:extLst>
              </p:cNvPr>
              <p:cNvSpPr txBox="1"/>
              <p:nvPr/>
            </p:nvSpPr>
            <p:spPr>
              <a:xfrm>
                <a:off x="9433258" y="1355749"/>
                <a:ext cx="5208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350283-64D0-6182-C1E7-037E61806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258" y="1355749"/>
                <a:ext cx="52086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69;p14">
            <a:extLst>
              <a:ext uri="{FF2B5EF4-FFF2-40B4-BE49-F238E27FC236}">
                <a16:creationId xmlns:a16="http://schemas.microsoft.com/office/drawing/2014/main" id="{3CCA6472-C418-7D75-41D6-C24756C56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857" y="88837"/>
            <a:ext cx="6519165" cy="98507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sz="4800" dirty="0"/>
              <a:t>Density graph </a:t>
            </a:r>
            <a:r>
              <a:rPr lang="en-US" sz="4800" dirty="0" err="1"/>
              <a:t>FlowChart</a:t>
            </a:r>
            <a:endParaRPr lang="en-US" sz="4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1042DA-A4B9-A687-73B2-A50C7898ACC6}"/>
              </a:ext>
            </a:extLst>
          </p:cNvPr>
          <p:cNvSpPr/>
          <p:nvPr/>
        </p:nvSpPr>
        <p:spPr>
          <a:xfrm>
            <a:off x="7381755" y="223860"/>
            <a:ext cx="1140758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2D-IDCT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5080C0-4423-FE4C-0227-F85AEDDA3342}"/>
                  </a:ext>
                </a:extLst>
              </p:cNvPr>
              <p:cNvSpPr txBox="1"/>
              <p:nvPr/>
            </p:nvSpPr>
            <p:spPr>
              <a:xfrm>
                <a:off x="9561997" y="345803"/>
                <a:ext cx="2230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5080C0-4423-FE4C-0227-F85AEDDA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997" y="345803"/>
                <a:ext cx="223010" cy="276999"/>
              </a:xfrm>
              <a:prstGeom prst="rect">
                <a:avLst/>
              </a:prstGeom>
              <a:blipFill>
                <a:blip r:embed="rId7"/>
                <a:stretch>
                  <a:fillRect l="-36111" t="-2222" r="-3888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65DF3-8AF4-8B2A-FE84-033DCCA6B4F8}"/>
                  </a:ext>
                </a:extLst>
              </p:cNvPr>
              <p:cNvSpPr txBox="1"/>
              <p:nvPr/>
            </p:nvSpPr>
            <p:spPr>
              <a:xfrm>
                <a:off x="10038020" y="1944265"/>
                <a:ext cx="162013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𝑒𝑙𝑒𝑐𝑡𝑟𝑖𝑐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𝑓𝑖𝑒𝑙𝑑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65DF3-8AF4-8B2A-FE84-033DCCA6B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020" y="1944265"/>
                <a:ext cx="1620138" cy="307777"/>
              </a:xfrm>
              <a:prstGeom prst="rect">
                <a:avLst/>
              </a:prstGeom>
              <a:blipFill>
                <a:blip r:embed="rId8"/>
                <a:stretch>
                  <a:fillRect l="-5660" r="-1283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38BF8B-97E6-1EEC-0887-069543BE3516}"/>
                  </a:ext>
                </a:extLst>
              </p:cNvPr>
              <p:cNvSpPr txBox="1"/>
              <p:nvPr/>
            </p:nvSpPr>
            <p:spPr>
              <a:xfrm>
                <a:off x="9820210" y="363070"/>
                <a:ext cx="17372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𝑒𝑙𝑒𝑐𝑡𝑟𝑖𝑐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𝑝𝑜𝑡𝑒𝑛𝑡𝑖𝑎𝑙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38BF8B-97E6-1EEC-0887-069543BE3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10" y="363070"/>
                <a:ext cx="1737243" cy="400110"/>
              </a:xfrm>
              <a:prstGeom prst="rect">
                <a:avLst/>
              </a:prstGeom>
              <a:blipFill>
                <a:blip r:embed="rId9"/>
                <a:stretch>
                  <a:fillRect r="-37895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640EB3-91C5-4996-A3E5-A01E9C01C416}"/>
              </a:ext>
            </a:extLst>
          </p:cNvPr>
          <p:cNvCxnSpPr>
            <a:cxnSpLocks/>
          </p:cNvCxnSpPr>
          <p:nvPr/>
        </p:nvCxnSpPr>
        <p:spPr>
          <a:xfrm>
            <a:off x="8936181" y="1617237"/>
            <a:ext cx="52086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5C6B60F-A64F-6DD2-BE18-CE149D0C54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73077" y="619986"/>
            <a:ext cx="1024114" cy="96672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68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0642-EE71-1DEC-3C71-8CBBC62A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800" dirty="0"/>
              <a:t>Density graph -- data movement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31122A-7771-2287-894F-682EDD2C7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480563"/>
              </p:ext>
            </p:extLst>
          </p:nvPr>
        </p:nvGraphicFramePr>
        <p:xfrm>
          <a:off x="349197" y="1411229"/>
          <a:ext cx="5152572" cy="4258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62">
                  <a:extLst>
                    <a:ext uri="{9D8B030D-6E8A-4147-A177-3AD203B41FA5}">
                      <a16:colId xmlns:a16="http://schemas.microsoft.com/office/drawing/2014/main" val="2133005274"/>
                    </a:ext>
                  </a:extLst>
                </a:gridCol>
                <a:gridCol w="858762">
                  <a:extLst>
                    <a:ext uri="{9D8B030D-6E8A-4147-A177-3AD203B41FA5}">
                      <a16:colId xmlns:a16="http://schemas.microsoft.com/office/drawing/2014/main" val="2402281207"/>
                    </a:ext>
                  </a:extLst>
                </a:gridCol>
                <a:gridCol w="858762">
                  <a:extLst>
                    <a:ext uri="{9D8B030D-6E8A-4147-A177-3AD203B41FA5}">
                      <a16:colId xmlns:a16="http://schemas.microsoft.com/office/drawing/2014/main" val="2356051013"/>
                    </a:ext>
                  </a:extLst>
                </a:gridCol>
                <a:gridCol w="858762">
                  <a:extLst>
                    <a:ext uri="{9D8B030D-6E8A-4147-A177-3AD203B41FA5}">
                      <a16:colId xmlns:a16="http://schemas.microsoft.com/office/drawing/2014/main" val="3572352525"/>
                    </a:ext>
                  </a:extLst>
                </a:gridCol>
                <a:gridCol w="858762">
                  <a:extLst>
                    <a:ext uri="{9D8B030D-6E8A-4147-A177-3AD203B41FA5}">
                      <a16:colId xmlns:a16="http://schemas.microsoft.com/office/drawing/2014/main" val="2962100389"/>
                    </a:ext>
                  </a:extLst>
                </a:gridCol>
                <a:gridCol w="858762">
                  <a:extLst>
                    <a:ext uri="{9D8B030D-6E8A-4147-A177-3AD203B41FA5}">
                      <a16:colId xmlns:a16="http://schemas.microsoft.com/office/drawing/2014/main" val="580991335"/>
                    </a:ext>
                  </a:extLst>
                </a:gridCol>
              </a:tblGrid>
              <a:tr h="708994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_0_0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_0_1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_0_2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_0_3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_0_n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18734"/>
                  </a:ext>
                </a:extLst>
              </a:tr>
              <a:tr h="708994"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_1_0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_1_1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_1_2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_1_3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_1_n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8064"/>
                  </a:ext>
                </a:extLst>
              </a:tr>
              <a:tr h="708994"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_2_0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_2_1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_2_2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_2_3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_2_n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187262"/>
                  </a:ext>
                </a:extLst>
              </a:tr>
              <a:tr h="713122"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_3_0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_3_1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_3_2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_3_3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_3_n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523921"/>
                  </a:ext>
                </a:extLst>
              </a:tr>
              <a:tr h="708994"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724469"/>
                  </a:ext>
                </a:extLst>
              </a:tr>
              <a:tr h="708994"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_n_0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_n_1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_n_2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_n_3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400" b="0" dirty="0"/>
                        <a:t>…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en-US" sz="1400" b="0" dirty="0"/>
                        <a:t>_n_n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3810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609AE-865C-534D-4FAE-7997777EF11D}"/>
                  </a:ext>
                </a:extLst>
              </p:cNvPr>
              <p:cNvSpPr txBox="1"/>
              <p:nvPr/>
            </p:nvSpPr>
            <p:spPr>
              <a:xfrm>
                <a:off x="6267338" y="1218088"/>
                <a:ext cx="5398452" cy="1911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Layout area is divided into n by n grid of bins, where n is a power of 2. </a:t>
                </a:r>
              </a:p>
              <a:p>
                <a:endParaRPr lang="en-US" dirty="0"/>
              </a:p>
              <a:p>
                <a:r>
                  <a:rPr lang="en-US" dirty="0"/>
                  <a:t>Each bin has a computed density </a:t>
                </a:r>
                <a:r>
                  <a:rPr lang="el-GR" b="1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</a:rPr>
                  <a:t>ρ</a:t>
                </a:r>
                <a:r>
                  <a:rPr lang="en-US" b="1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</a:rPr>
                  <a:t> </a:t>
                </a:r>
                <a:r>
                  <a:rPr lang="en-US" dirty="0"/>
                  <a:t>defined as:</a:t>
                </a:r>
              </a:p>
              <a:p>
                <a:endParaRPr lang="en-US" dirty="0"/>
              </a:p>
              <a:p>
                <a:r>
                  <a:rPr lang="en-US" dirty="0"/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𝐶𝑒𝑙𝑙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𝑂𝑣𝑒𝑟𝑙𝑎𝑝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𝑏𝑖𝑛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609AE-865C-534D-4FAE-7997777EF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38" y="1218088"/>
                <a:ext cx="5398452" cy="1911549"/>
              </a:xfrm>
              <a:prstGeom prst="rect">
                <a:avLst/>
              </a:prstGeom>
              <a:blipFill>
                <a:blip r:embed="rId2"/>
                <a:stretch>
                  <a:fillRect l="-903" t="-1917" b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E47753-556D-1761-0D6E-2EEAF8788A4E}"/>
              </a:ext>
            </a:extLst>
          </p:cNvPr>
          <p:cNvSpPr txBox="1"/>
          <p:nvPr/>
        </p:nvSpPr>
        <p:spPr>
          <a:xfrm>
            <a:off x="5650219" y="3129637"/>
            <a:ext cx="63423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compute electric field: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row is sent as a “packet” of fixed size n to the AIE graph which computes </a:t>
            </a:r>
            <a:r>
              <a:rPr lang="en-US" b="1" dirty="0"/>
              <a:t>1D-DCT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each row has been processed, a </a:t>
            </a:r>
            <a:r>
              <a:rPr lang="en-US" b="1" dirty="0"/>
              <a:t>transpose</a:t>
            </a:r>
            <a:r>
              <a:rPr lang="en-US" dirty="0"/>
              <a:t> is performed in PL, and then rows are sent for another </a:t>
            </a:r>
            <a:r>
              <a:rPr lang="en-US" b="1" dirty="0"/>
              <a:t>1D-DCT</a:t>
            </a:r>
            <a:r>
              <a:rPr lang="en-US" dirty="0"/>
              <a:t>. (This is equivalent to performing DCT on the columns.)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Another transpose completes the </a:t>
            </a:r>
            <a:r>
              <a:rPr lang="en-US" b="1" dirty="0"/>
              <a:t>2D-DCT</a:t>
            </a:r>
            <a:r>
              <a:rPr lang="en-US" dirty="0"/>
              <a:t>, and we have computed term </a:t>
            </a:r>
            <a:r>
              <a:rPr lang="en-US" dirty="0" err="1"/>
              <a:t>a</a:t>
            </a:r>
            <a:r>
              <a:rPr lang="en-US" baseline="-25000" dirty="0" err="1"/>
              <a:t>u,v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 repeat for IDCT and IDXST functions as shown on previous slide to obtain the X and Y electric field terms in each bin.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7A387B1C-99E6-B10D-96F5-8CA03864420C}"/>
              </a:ext>
            </a:extLst>
          </p:cNvPr>
          <p:cNvSpPr/>
          <p:nvPr/>
        </p:nvSpPr>
        <p:spPr>
          <a:xfrm>
            <a:off x="9204385" y="103517"/>
            <a:ext cx="2461404" cy="1011054"/>
          </a:xfrm>
          <a:prstGeom prst="cloudCallou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For final application, n is 512 or 1024.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55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F90E-F95E-A1C3-2845-9DCB0240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5304" y="2624328"/>
            <a:ext cx="2958688" cy="1609344"/>
          </a:xfrm>
        </p:spPr>
        <p:txBody>
          <a:bodyPr/>
          <a:lstStyle/>
          <a:p>
            <a:r>
              <a:rPr lang="en-US" dirty="0"/>
              <a:t>Archive</a:t>
            </a:r>
          </a:p>
        </p:txBody>
      </p:sp>
    </p:spTree>
    <p:extLst>
      <p:ext uri="{BB962C8B-B14F-4D97-AF65-F5344CB8AC3E}">
        <p14:creationId xmlns:p14="http://schemas.microsoft.com/office/powerpoint/2010/main" val="2467564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2AC1E107-D022-6F7E-C014-D98114C9A799}"/>
              </a:ext>
            </a:extLst>
          </p:cNvPr>
          <p:cNvSpPr txBox="1"/>
          <p:nvPr/>
        </p:nvSpPr>
        <p:spPr>
          <a:xfrm>
            <a:off x="4611321" y="2174849"/>
            <a:ext cx="343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x</a:t>
            </a:r>
            <a:r>
              <a:rPr lang="en-US" sz="2000" baseline="-25000" dirty="0">
                <a:solidFill>
                  <a:schemeClr val="tx1"/>
                </a:solidFill>
              </a:rPr>
              <a:t>i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CF2DA-E232-84E8-2A73-3AE8CB991E1F}"/>
              </a:ext>
            </a:extLst>
          </p:cNvPr>
          <p:cNvSpPr txBox="1"/>
          <p:nvPr/>
        </p:nvSpPr>
        <p:spPr>
          <a:xfrm>
            <a:off x="3518229" y="2605053"/>
            <a:ext cx="1196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All coordinates on net </a:t>
            </a:r>
            <a:r>
              <a:rPr lang="en-US" sz="1200" i="1" dirty="0">
                <a:solidFill>
                  <a:schemeClr val="tx1"/>
                </a:solidFill>
              </a:rPr>
              <a:t>n</a:t>
            </a:r>
          </a:p>
          <a:p>
            <a:pPr algn="ctr"/>
            <a:endParaRPr lang="en-US" sz="1200" i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A22956-CE8E-40A0-14A7-9D6C5EEA184E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4516639" y="2544113"/>
            <a:ext cx="4980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E4D3DF-31FD-83F0-EA52-EA3983BCB864}"/>
              </a:ext>
            </a:extLst>
          </p:cNvPr>
          <p:cNvSpPr txBox="1"/>
          <p:nvPr/>
        </p:nvSpPr>
        <p:spPr>
          <a:xfrm>
            <a:off x="6190335" y="250102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</a:t>
            </a:r>
            <a:r>
              <a:rPr lang="en-US" sz="2000" baseline="30000" dirty="0">
                <a:solidFill>
                  <a:schemeClr val="tx1"/>
                </a:solidFill>
              </a:rPr>
              <a:t>±</a:t>
            </a:r>
          </a:p>
          <a:p>
            <a:endParaRPr lang="en-US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1C4014-D2D4-BE4B-1FFF-302AB7F74B84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096000" y="2544113"/>
            <a:ext cx="117561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A3FEAC8-6E85-77C6-145B-C731DD315395}"/>
              </a:ext>
            </a:extLst>
          </p:cNvPr>
          <p:cNvCxnSpPr>
            <a:cxnSpLocks/>
          </p:cNvCxnSpPr>
          <p:nvPr/>
        </p:nvCxnSpPr>
        <p:spPr>
          <a:xfrm>
            <a:off x="4648496" y="2040601"/>
            <a:ext cx="2623123" cy="335697"/>
          </a:xfrm>
          <a:prstGeom prst="bentConnector3">
            <a:avLst>
              <a:gd name="adj1" fmla="val 7687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9D82D4-D680-F465-5858-B5DB8EA690AE}"/>
              </a:ext>
            </a:extLst>
          </p:cNvPr>
          <p:cNvCxnSpPr>
            <a:cxnSpLocks/>
          </p:cNvCxnSpPr>
          <p:nvPr/>
        </p:nvCxnSpPr>
        <p:spPr>
          <a:xfrm flipV="1">
            <a:off x="4650462" y="2032774"/>
            <a:ext cx="0" cy="5074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ECABBA-D873-3DD1-71D1-5BE3E709AF28}"/>
              </a:ext>
            </a:extLst>
          </p:cNvPr>
          <p:cNvSpPr txBox="1"/>
          <p:nvPr/>
        </p:nvSpPr>
        <p:spPr>
          <a:xfrm>
            <a:off x="3540461" y="2182533"/>
            <a:ext cx="113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From PL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355EE05-1117-C688-722F-4C73ED383591}"/>
              </a:ext>
            </a:extLst>
          </p:cNvPr>
          <p:cNvSpPr/>
          <p:nvPr/>
        </p:nvSpPr>
        <p:spPr>
          <a:xfrm>
            <a:off x="5014716" y="2174850"/>
            <a:ext cx="1081284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30000" dirty="0">
                <a:solidFill>
                  <a:schemeClr val="tx1"/>
                </a:solidFill>
              </a:rPr>
              <a:t>±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  <a:p>
            <a:pPr algn="ctr"/>
            <a:endParaRPr lang="en-US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5D72F04-63A9-A06F-0CE0-7252F47F179A}"/>
              </a:ext>
            </a:extLst>
          </p:cNvPr>
          <p:cNvSpPr/>
          <p:nvPr/>
        </p:nvSpPr>
        <p:spPr>
          <a:xfrm>
            <a:off x="7271618" y="2174849"/>
            <a:ext cx="1260711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en-US" baseline="30000" dirty="0">
                <a:solidFill>
                  <a:schemeClr val="tx1"/>
                </a:solidFill>
              </a:rPr>
              <a:t>±</a:t>
            </a:r>
            <a:r>
              <a:rPr lang="en-US" dirty="0">
                <a:solidFill>
                  <a:schemeClr val="tx1"/>
                </a:solidFill>
              </a:rPr>
              <a:t> and c</a:t>
            </a:r>
            <a:r>
              <a:rPr lang="en-US" baseline="30000" dirty="0">
                <a:solidFill>
                  <a:schemeClr val="tx1"/>
                </a:solidFill>
              </a:rPr>
              <a:t>± </a:t>
            </a:r>
            <a:r>
              <a:rPr lang="en-US" dirty="0">
                <a:solidFill>
                  <a:schemeClr val="tx1"/>
                </a:solidFill>
              </a:rPr>
              <a:t>kernel</a:t>
            </a:r>
          </a:p>
          <a:p>
            <a:pPr algn="ctr"/>
            <a:endParaRPr lang="en-US" baseline="300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27EC751-1522-395E-7984-79E2CE78C6CE}"/>
              </a:ext>
            </a:extLst>
          </p:cNvPr>
          <p:cNvSpPr/>
          <p:nvPr/>
        </p:nvSpPr>
        <p:spPr>
          <a:xfrm>
            <a:off x="5555358" y="3636548"/>
            <a:ext cx="1355083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∂</a:t>
            </a:r>
            <a:r>
              <a:rPr lang="en-US" b="0" i="0" dirty="0" err="1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WL</a:t>
            </a:r>
            <a:r>
              <a:rPr lang="en-US" b="0" i="0" baseline="-25000" dirty="0" err="1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Roboto" panose="020B0604020202020204" pitchFamily="2" charset="0"/>
              </a:rPr>
              <a:t> / </a:t>
            </a:r>
            <a:r>
              <a:rPr lang="en-US" b="0" i="0" dirty="0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∂x</a:t>
            </a:r>
            <a:r>
              <a:rPr lang="en-US" b="0" i="0" baseline="-25000" dirty="0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i</a:t>
            </a:r>
            <a:endParaRPr lang="en-US" b="0" i="0" dirty="0">
              <a:solidFill>
                <a:schemeClr val="tx1"/>
              </a:solidFill>
              <a:effectLst/>
              <a:latin typeface="Roboto" panose="020B0604020202020204" pitchFamily="2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Roboto" panose="020B0604020202020204" pitchFamily="2" charset="0"/>
              </a:rPr>
              <a:t>kernel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4F62B71-2778-C51A-AD07-2D80BC1926FE}"/>
              </a:ext>
            </a:extLst>
          </p:cNvPr>
          <p:cNvSpPr/>
          <p:nvPr/>
        </p:nvSpPr>
        <p:spPr>
          <a:xfrm>
            <a:off x="7304946" y="3643899"/>
            <a:ext cx="1194056" cy="73852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Roboto" panose="020B0604020202020204" pitchFamily="2" charset="0"/>
              </a:rPr>
              <a:t>HPWL</a:t>
            </a:r>
            <a:endParaRPr lang="en-US" b="0" i="0" u="sng" dirty="0">
              <a:solidFill>
                <a:schemeClr val="tx1"/>
              </a:solidFill>
              <a:effectLst/>
              <a:latin typeface="Roboto" panose="020B0604020202020204" pitchFamily="2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Roboto" panose="020B0604020202020204" pitchFamily="2" charset="0"/>
              </a:rPr>
              <a:t>kernel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1D0B4-785F-BA34-AE8A-4941820084FA}"/>
              </a:ext>
            </a:extLst>
          </p:cNvPr>
          <p:cNvCxnSpPr>
            <a:cxnSpLocks/>
            <a:stCxn id="47" idx="2"/>
            <a:endCxn id="53" idx="0"/>
          </p:cNvCxnSpPr>
          <p:nvPr/>
        </p:nvCxnSpPr>
        <p:spPr>
          <a:xfrm>
            <a:off x="7901974" y="2913374"/>
            <a:ext cx="0" cy="7305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66EECA-4797-D8E7-3563-1F1A99F8236F}"/>
              </a:ext>
            </a:extLst>
          </p:cNvPr>
          <p:cNvCxnSpPr/>
          <p:nvPr/>
        </p:nvCxnSpPr>
        <p:spPr>
          <a:xfrm>
            <a:off x="6232899" y="2544111"/>
            <a:ext cx="0" cy="10924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606F5A1-2CE9-41F8-570E-17427C7D5E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3995" y="3381375"/>
            <a:ext cx="1237978" cy="247822"/>
          </a:xfrm>
          <a:prstGeom prst="bentConnector3">
            <a:avLst>
              <a:gd name="adj1" fmla="val 10039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765991A-BC7B-FF97-0C56-F4E07813B15B}"/>
              </a:ext>
            </a:extLst>
          </p:cNvPr>
          <p:cNvSpPr txBox="1"/>
          <p:nvPr/>
        </p:nvSpPr>
        <p:spPr>
          <a:xfrm>
            <a:off x="7973714" y="3047622"/>
            <a:ext cx="72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30000" dirty="0">
                <a:solidFill>
                  <a:schemeClr val="tx1"/>
                </a:solidFill>
              </a:rPr>
              <a:t>±</a:t>
            </a:r>
            <a:r>
              <a:rPr lang="en-US" sz="2000" dirty="0">
                <a:solidFill>
                  <a:schemeClr val="tx1"/>
                </a:solidFill>
              </a:rPr>
              <a:t>, c</a:t>
            </a:r>
            <a:r>
              <a:rPr lang="en-US" sz="2000" baseline="30000" dirty="0">
                <a:solidFill>
                  <a:schemeClr val="tx1"/>
                </a:solidFill>
              </a:rPr>
              <a:t>±</a:t>
            </a:r>
          </a:p>
          <a:p>
            <a:endParaRPr lang="en-US" sz="20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D44483D-43A0-0579-9693-67B28A09E945}"/>
              </a:ext>
            </a:extLst>
          </p:cNvPr>
          <p:cNvCxnSpPr>
            <a:stCxn id="52" idx="1"/>
          </p:cNvCxnSpPr>
          <p:nvPr/>
        </p:nvCxnSpPr>
        <p:spPr>
          <a:xfrm flipH="1" flipV="1">
            <a:off x="4347522" y="3998459"/>
            <a:ext cx="1207836" cy="73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A68B79E-6B03-1FA6-72E1-CCA8EAF0CD9F}"/>
              </a:ext>
            </a:extLst>
          </p:cNvPr>
          <p:cNvCxnSpPr>
            <a:stCxn id="53" idx="2"/>
          </p:cNvCxnSpPr>
          <p:nvPr/>
        </p:nvCxnSpPr>
        <p:spPr>
          <a:xfrm rot="5400000">
            <a:off x="6106893" y="2712767"/>
            <a:ext cx="125424" cy="346473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42C1C272-7BB4-00D0-478C-75C3CBFE1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473" y="326165"/>
            <a:ext cx="9409534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4800" dirty="0"/>
              <a:t>Partials graph detail (variant)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87A16-ADEB-09BC-8072-868541AE66C6}"/>
              </a:ext>
            </a:extLst>
          </p:cNvPr>
          <p:cNvSpPr txBox="1"/>
          <p:nvPr/>
        </p:nvSpPr>
        <p:spPr>
          <a:xfrm>
            <a:off x="2954524" y="4067153"/>
            <a:ext cx="141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Return to PL</a:t>
            </a:r>
          </a:p>
        </p:txBody>
      </p:sp>
    </p:spTree>
    <p:extLst>
      <p:ext uri="{BB962C8B-B14F-4D97-AF65-F5344CB8AC3E}">
        <p14:creationId xmlns:p14="http://schemas.microsoft.com/office/powerpoint/2010/main" val="292527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1723-C54B-9C57-3D05-4E0E32A1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63F0-4C7B-EC66-7F28-5211E5068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769" y="2121408"/>
            <a:ext cx="10628415" cy="4050792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Buffers used for data transfer need to be of fixed size.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Problem: need to transfer nets of varied size.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Solution: Set packet size to </a:t>
            </a:r>
            <a:r>
              <a:rPr lang="en-US" sz="2000" dirty="0"/>
              <a:t>840 vectors, the LCM of net sizes 2 thru 8.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For net size of 5, a full packet would contain 840 / 5 = 168 groups.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This packet would contain XY data for 168 * 4 = 672 nets of size 5.</a:t>
            </a:r>
          </a:p>
          <a:p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05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71534</TotalTime>
  <Words>1324</Words>
  <Application>Microsoft Office PowerPoint</Application>
  <PresentationFormat>Widescreen</PresentationFormat>
  <Paragraphs>401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Roboto</vt:lpstr>
      <vt:lpstr>Rockwell</vt:lpstr>
      <vt:lpstr>Rockwell Condensed</vt:lpstr>
      <vt:lpstr>Rockwell Extra Bold</vt:lpstr>
      <vt:lpstr>Source Code Pro</vt:lpstr>
      <vt:lpstr>Wingdings</vt:lpstr>
      <vt:lpstr>Wood Type</vt:lpstr>
      <vt:lpstr>AIEplace</vt:lpstr>
      <vt:lpstr>AIEplace Application Overview</vt:lpstr>
      <vt:lpstr>Partials graph -- Dataflow</vt:lpstr>
      <vt:lpstr>Partials Graph -- Stream Format</vt:lpstr>
      <vt:lpstr>Partials Graph -- net Groups</vt:lpstr>
      <vt:lpstr>Codebase</vt:lpstr>
      <vt:lpstr>PowerPoint Presentation</vt:lpstr>
      <vt:lpstr>PowerPoint Presentation</vt:lpstr>
      <vt:lpstr>Codebase Dataflow</vt:lpstr>
      <vt:lpstr>Density graph FlowChart</vt:lpstr>
      <vt:lpstr>Density graph -- data movement</vt:lpstr>
      <vt:lpstr>Archive</vt:lpstr>
      <vt:lpstr>Partials graph detail (variant)</vt:lpstr>
      <vt:lpstr>Data packets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AIEplace Figures</dc:title>
  <dc:creator>Mark Sears</dc:creator>
  <cp:lastModifiedBy>Sears, Mark Ripley</cp:lastModifiedBy>
  <cp:revision>22</cp:revision>
  <dcterms:created xsi:type="dcterms:W3CDTF">2023-03-01T19:41:24Z</dcterms:created>
  <dcterms:modified xsi:type="dcterms:W3CDTF">2026-02-10T20:13:05Z</dcterms:modified>
</cp:coreProperties>
</file>